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8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10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8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9.png"/><Relationship Id="rId4" Type="http://schemas.openxmlformats.org/officeDocument/2006/relationships/image" Target="../media/image4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6.png"/><Relationship Id="rId4" Type="http://schemas.openxmlformats.org/officeDocument/2006/relationships/image" Target="../media/image8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image" Target="../media/image75.png"/><Relationship Id="rId21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24361" y="704849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10104" y="1080276"/>
            <a:ext cx="571485" cy="392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5727" y="2038349"/>
            <a:ext cx="2409764" cy="10191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040"/>
              </a:spcAft>
            </a:pPr>
            <a:r>
              <a:rPr sz="406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خودروبان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5" y="3200400"/>
            <a:ext cx="3047923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674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ارائه تفصیلی فنی و استراتژیک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6558" y="4381499"/>
            <a:ext cx="4838579" cy="1771650"/>
          </a:xfrm>
          <a:prstGeom prst="roundRect">
            <a:avLst>
              <a:gd name="adj" fmla="val 1720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96027" y="4654867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3271" y="4629150"/>
            <a:ext cx="36384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تحلیل رقبا | استراتژی محصول | معماری فنی | چشم‌انداز آینده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96027" y="5024437"/>
            <a:ext cx="228594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10244" y="497205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ارائه برای: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024" y="4972050"/>
            <a:ext cx="213354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سرمایه‌گذاران علاقه‌مند (جلسه دوم)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96027" y="535114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67413" y="5334000"/>
            <a:ext cx="31431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زمان: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9709" y="5334000"/>
            <a:ext cx="77150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۲۰-۳۰ دقیقه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96027" y="5702141"/>
            <a:ext cx="228594" cy="1971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8724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724900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📊 تحلیل رقبا: نقشه بازار ایران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۵ رقیب اصلی در دسته‌بندی‌های مختلف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66874"/>
            <a:ext cx="10858228" cy="3819524"/>
          </a:xfrm>
          <a:prstGeom prst="roundRect">
            <a:avLst>
              <a:gd name="adj" fmla="val 798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52896" y="1904999"/>
            <a:ext cx="188590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1315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نقشه موقعیت‌یابی رقبا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52" y="2390774"/>
            <a:ext cx="10381990" cy="2857500"/>
          </a:xfrm>
          <a:prstGeom prst="roundRect">
            <a:avLst>
              <a:gd name="adj" fmla="val 8000"/>
            </a:avLst>
          </a:prstGeom>
          <a:solidFill>
            <a:srgbClr val="10B981">
              <a:alpha val="5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52576" y="3819524"/>
            <a:ext cx="8286542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2686050"/>
            <a:ext cx="9524" cy="226695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14" y="3695699"/>
            <a:ext cx="30479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ساده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3891" y="3695699"/>
            <a:ext cx="41908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پیچیده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7233" y="2543175"/>
            <a:ext cx="85722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پلتفرم خدماتی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659" y="4857750"/>
            <a:ext cx="92390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دفترچه شخصی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3311" y="3962399"/>
            <a:ext cx="1000099" cy="428625"/>
          </a:xfrm>
          <a:prstGeom prst="roundRect">
            <a:avLst>
              <a:gd name="adj" fmla="val 35555"/>
            </a:avLst>
          </a:prstGeom>
          <a:solidFill>
            <a:srgbClr val="10B981">
              <a:alpha val="80000"/>
            </a:srgbClr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3311" y="3962399"/>
            <a:ext cx="100009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★ خودروبان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0775" y="4095749"/>
            <a:ext cx="609584" cy="428625"/>
          </a:xfrm>
          <a:prstGeom prst="roundRect">
            <a:avLst>
              <a:gd name="adj" fmla="val 35555"/>
            </a:avLst>
          </a:prstGeom>
          <a:solidFill>
            <a:srgbClr val="3B82F6">
              <a:alpha val="80000"/>
            </a:srgbClr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0775" y="4095749"/>
            <a:ext cx="60958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دوریار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205" y="4095749"/>
            <a:ext cx="914377" cy="428625"/>
          </a:xfrm>
          <a:prstGeom prst="roundRect">
            <a:avLst>
              <a:gd name="adj" fmla="val 35555"/>
            </a:avLst>
          </a:prstGeom>
          <a:solidFill>
            <a:srgbClr val="3B82F6">
              <a:alpha val="80000"/>
            </a:srgbClr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205" y="4095749"/>
            <a:ext cx="91437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ماشین من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5112" y="3105149"/>
            <a:ext cx="781030" cy="428625"/>
          </a:xfrm>
          <a:prstGeom prst="roundRect">
            <a:avLst>
              <a:gd name="adj" fmla="val 35555"/>
            </a:avLst>
          </a:prstGeom>
          <a:solidFill>
            <a:srgbClr val="F59E0B">
              <a:alpha val="80000"/>
            </a:srgbClr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5112" y="3105149"/>
            <a:ext cx="78103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خودرویار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81510" y="2971800"/>
            <a:ext cx="676258" cy="428625"/>
          </a:xfrm>
          <a:prstGeom prst="roundRect">
            <a:avLst>
              <a:gd name="adj" fmla="val 35555"/>
            </a:avLst>
          </a:prstGeom>
          <a:solidFill>
            <a:srgbClr val="F59E0B">
              <a:alpha val="80000"/>
            </a:srgbClr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1510" y="2971800"/>
            <a:ext cx="67625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سوپاپ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3196" y="3105149"/>
            <a:ext cx="533386" cy="428625"/>
          </a:xfrm>
          <a:prstGeom prst="roundRect">
            <a:avLst>
              <a:gd name="adj" fmla="val 35555"/>
            </a:avLst>
          </a:prstGeom>
          <a:solidFill>
            <a:srgbClr val="F59E0B">
              <a:alpha val="80000"/>
            </a:srgbClr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3196" y="3105149"/>
            <a:ext cx="53338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ویراژ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9374" y="5772150"/>
            <a:ext cx="3495587" cy="2571750"/>
          </a:xfrm>
          <a:prstGeom prst="roundRect">
            <a:avLst>
              <a:gd name="adj" fmla="val 1185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943951" y="5972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20149" y="6065520"/>
            <a:ext cx="228594" cy="19430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897460"/>
            <a:ext cx="152396" cy="130628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7211785"/>
            <a:ext cx="152396" cy="130628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7526110"/>
            <a:ext cx="152396" cy="13062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352816" y="5772150"/>
            <a:ext cx="3495587" cy="2571750"/>
          </a:xfrm>
          <a:prstGeom prst="roundRect">
            <a:avLst>
              <a:gd name="adj" fmla="val 1185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57868" y="5972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34066" y="6074092"/>
            <a:ext cx="228594" cy="177164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6897460"/>
            <a:ext cx="152396" cy="130628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7211785"/>
            <a:ext cx="152396" cy="130628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7526110"/>
            <a:ext cx="152396" cy="130628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7840435"/>
            <a:ext cx="152396" cy="13062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6733" y="5772150"/>
            <a:ext cx="3495587" cy="2571750"/>
          </a:xfrm>
          <a:prstGeom prst="roundRect">
            <a:avLst>
              <a:gd name="adj" fmla="val 1185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81310" y="5972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57508" y="6051232"/>
            <a:ext cx="228594" cy="222884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6897460"/>
            <a:ext cx="152396" cy="130628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7211785"/>
            <a:ext cx="152396" cy="130628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7526110"/>
            <a:ext cx="152396" cy="130628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784043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75533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553324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📋 مقایسه تحلیلی رقبا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ارزیابی ۶ معیار کلیدی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66874"/>
            <a:ext cx="10858228" cy="4248150"/>
          </a:xfrm>
          <a:prstGeom prst="roundRect">
            <a:avLst>
              <a:gd name="adj" fmla="val 717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6733" y="6200775"/>
            <a:ext cx="10858228" cy="971550"/>
          </a:xfrm>
          <a:prstGeom prst="roundRect">
            <a:avLst>
              <a:gd name="adj" fmla="val 31372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29654" y="64579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24901" y="6577840"/>
            <a:ext cx="266693" cy="2174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52" y="6400800"/>
            <a:ext cx="9772405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 🎯 فرصت خودروبان: </a:t>
            </a:r>
            <a:r>
              <a:rPr sz="1196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ترکیب «سادگی دوریار» + «هوشمندی ماشین من» + «UI مدرن»</a:t>
            </a: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 = دفترچه دیجیتال ساده و هوشمند با بهترین تجربه کاربری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79724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972425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⭐ چرا خودروبان متفاوت است؟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۶ نقطه تمایز کلیدی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9374" y="1666874"/>
            <a:ext cx="3495587" cy="2867025"/>
          </a:xfrm>
          <a:prstGeom prst="roundRect">
            <a:avLst>
              <a:gd name="adj" fmla="val 106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7753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02081" y="1981199"/>
            <a:ext cx="188531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4306" y="1943100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سادگی واقعی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394" y="2476499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بدون پیچیدگی‌های غیرضروری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2487385"/>
            <a:ext cx="152396" cy="1306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394" y="2790824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فقط ۳ کلیک تا ثبت سرویس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2801710"/>
            <a:ext cx="152396" cy="13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394" y="3105149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رابط کاربری بصری و جذاب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116035"/>
            <a:ext cx="152396" cy="1306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394" y="3419474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تمرکز روی نیاز اصلی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430360"/>
            <a:ext cx="152396" cy="1306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229394" y="3886200"/>
            <a:ext cx="3095547" cy="447675"/>
          </a:xfrm>
          <a:prstGeom prst="roundRect">
            <a:avLst>
              <a:gd name="adj" fmla="val 3404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394" y="3886200"/>
            <a:ext cx="3095547" cy="4476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897" b="1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رقبا:</a:t>
            </a: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یا پیچیده (خودرویار) یا محدود (دوریار)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816" y="1666874"/>
            <a:ext cx="3495587" cy="2867025"/>
          </a:xfrm>
          <a:prstGeom prst="roundRect">
            <a:avLst>
              <a:gd name="adj" fmla="val 106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81670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95967" y="1999773"/>
            <a:ext cx="228594" cy="1914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00499" y="1943100"/>
            <a:ext cx="20668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هوشمند دو معیاری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2836" y="2476499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یادآوری بر اساس زمان و کیلومتر همزمان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2487385"/>
            <a:ext cx="152396" cy="130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52836" y="2790824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وضعیت «نزدیک موعد» و «گذشته از موعد»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2801710"/>
            <a:ext cx="152396" cy="1306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52836" y="3105149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پیش‌بینی زمان تعویض بعدی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3116035"/>
            <a:ext cx="152396" cy="1306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52836" y="3419474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یادآوری قابل تنظیم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3430360"/>
            <a:ext cx="152396" cy="13062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552836" y="3886200"/>
            <a:ext cx="3095547" cy="447675"/>
          </a:xfrm>
          <a:prstGeom prst="roundRect">
            <a:avLst>
              <a:gd name="adj" fmla="val 3404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2836" y="3886200"/>
            <a:ext cx="3095547" cy="4476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897" b="1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رقبا:</a:t>
            </a: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فقط ماشین من این را دارد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1666874"/>
            <a:ext cx="3495587" cy="2867025"/>
          </a:xfrm>
          <a:prstGeom prst="roundRect">
            <a:avLst>
              <a:gd name="adj" fmla="val 106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05112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19409" y="1998345"/>
            <a:ext cx="228594" cy="19430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85922" y="1943100"/>
            <a:ext cx="13048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فارسی‌سازی کامل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753" y="2476499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طراحی مناسب برای راست‌چین (RTL)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2487385"/>
            <a:ext cx="152396" cy="1306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6753" y="2790824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تقویم شمسی یکپارچه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2801710"/>
            <a:ext cx="152396" cy="1306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6753" y="3105149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واحدهای محلی (تومان، کیلومتر)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3116035"/>
            <a:ext cx="152396" cy="1306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6753" y="3419474"/>
            <a:ext cx="3095547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سرویس‌های رایج ایران به صورت پیش‌فرض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3430360"/>
            <a:ext cx="152396" cy="13062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66753" y="3886200"/>
            <a:ext cx="3095547" cy="447675"/>
          </a:xfrm>
          <a:prstGeom prst="roundRect">
            <a:avLst>
              <a:gd name="adj" fmla="val 3404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6753" y="3886200"/>
            <a:ext cx="3095547" cy="4476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897" b="1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رقبا:</a:t>
            </a: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بیشتر ترجمه سطحی دارند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9374" y="4724399"/>
            <a:ext cx="3495587" cy="2867025"/>
          </a:xfrm>
          <a:prstGeom prst="roundRect">
            <a:avLst>
              <a:gd name="adj" fmla="val 106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867753" y="4924424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82050" y="5055869"/>
            <a:ext cx="228594" cy="19430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81850" y="5000625"/>
            <a:ext cx="177160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مدل فریمیوم قابل دفاع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5544910"/>
            <a:ext cx="152396" cy="130628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5859235"/>
            <a:ext cx="152396" cy="130628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173560"/>
            <a:ext cx="152396" cy="130628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487885"/>
            <a:ext cx="152396" cy="13062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8229394" y="6943725"/>
            <a:ext cx="3095547" cy="447675"/>
          </a:xfrm>
          <a:prstGeom prst="roundRect">
            <a:avLst>
              <a:gd name="adj" fmla="val 3404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394" y="6943725"/>
            <a:ext cx="3095547" cy="4476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897" b="1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رقبا:</a:t>
            </a: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بیشتر رایگان با تبلیغات 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52816" y="4724399"/>
            <a:ext cx="3495587" cy="2867025"/>
          </a:xfrm>
          <a:prstGeom prst="roundRect">
            <a:avLst>
              <a:gd name="adj" fmla="val 106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181670" y="4924424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C4899">
              <a:alpha val="20000"/>
            </a:srgbClr>
          </a:soli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95967" y="5070157"/>
            <a:ext cx="228594" cy="16573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333866" y="5000625"/>
            <a:ext cx="173350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وب‌اپلیکیشن واکنش‌گرا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5544910"/>
            <a:ext cx="152396" cy="130628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5859235"/>
            <a:ext cx="152396" cy="130628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6173560"/>
            <a:ext cx="152396" cy="130628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6487885"/>
            <a:ext cx="152396" cy="13062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4552836" y="6943725"/>
            <a:ext cx="3095547" cy="447675"/>
          </a:xfrm>
          <a:prstGeom prst="roundRect">
            <a:avLst>
              <a:gd name="adj" fmla="val 3404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52836" y="6943725"/>
            <a:ext cx="3095547" cy="4476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897" b="1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رقبا:</a:t>
            </a: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بیشتر فقط اپ اندروید 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66733" y="4724399"/>
            <a:ext cx="3495587" cy="2867025"/>
          </a:xfrm>
          <a:prstGeom prst="roundRect">
            <a:avLst>
              <a:gd name="adj" fmla="val 1063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505112" y="4924424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20000"/>
            </a:srgbClr>
          </a:solidFill>
          <a:ln w="825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619409" y="5057298"/>
            <a:ext cx="228594" cy="19145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095447" y="5000625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مسیر رشد شفاف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5544910"/>
            <a:ext cx="152396" cy="130628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5859235"/>
            <a:ext cx="152396" cy="130628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6173560"/>
            <a:ext cx="152396" cy="130628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6487885"/>
            <a:ext cx="152396" cy="130628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866753" y="6943725"/>
            <a:ext cx="3095547" cy="447675"/>
          </a:xfrm>
          <a:prstGeom prst="roundRect">
            <a:avLst>
              <a:gd name="adj" fmla="val 3404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6753" y="6943725"/>
            <a:ext cx="3095547" cy="4476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897" b="1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رقبا:</a:t>
            </a:r>
            <a:r>
              <a:rPr sz="897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 یا ثابت مانده‌اند یا پیچیده شده‌اند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883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839200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💻 پلتفرم و تکنولوژی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معماری فنی مقیاس‌پذیر و مدرن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66874"/>
            <a:ext cx="10858228" cy="4238624"/>
          </a:xfrm>
          <a:prstGeom prst="roundRect">
            <a:avLst>
              <a:gd name="adj" fmla="val 719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48" y="1904999"/>
            <a:ext cx="119059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معماری لایه‌ای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52" y="2428875"/>
            <a:ext cx="10381990" cy="695325"/>
          </a:xfrm>
          <a:prstGeom prst="roundRect">
            <a:avLst>
              <a:gd name="adj" fmla="val 328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270986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77218" y="2628900"/>
            <a:ext cx="5048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کاربران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7428" y="2590799"/>
            <a:ext cx="733406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428" y="2590799"/>
            <a:ext cx="73340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📱 موبایل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7328" y="2590799"/>
            <a:ext cx="847703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7328" y="2590799"/>
            <a:ext cx="84770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💻 دسکتاپ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773" y="2590799"/>
            <a:ext cx="638159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773" y="2590799"/>
            <a:ext cx="6381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📱 تبلت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852" y="3276599"/>
            <a:ext cx="10381990" cy="695325"/>
          </a:xfrm>
          <a:prstGeom prst="roundRect">
            <a:avLst>
              <a:gd name="adj" fmla="val 328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3536632"/>
            <a:ext cx="228594" cy="1657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20049" y="3467100"/>
            <a:ext cx="76198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9349" y="3438525"/>
            <a:ext cx="514337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9349" y="3438525"/>
            <a:ext cx="51433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Vite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00219" y="3438525"/>
            <a:ext cx="666733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0219" y="3438525"/>
            <a:ext cx="6667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Svelte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6773" y="3438525"/>
            <a:ext cx="981050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773" y="3438525"/>
            <a:ext cx="98105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TypeScript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852" y="4124324"/>
            <a:ext cx="10381990" cy="695325"/>
          </a:xfrm>
          <a:prstGeom prst="roundRect">
            <a:avLst>
              <a:gd name="adj" fmla="val 328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896327" y="4368165"/>
            <a:ext cx="228594" cy="2171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86682" y="4324349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Backend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9329" y="4286250"/>
            <a:ext cx="1933526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9329" y="4286250"/>
            <a:ext cx="193352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Django REST Framework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6773" y="4286250"/>
            <a:ext cx="1600159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6773" y="4286250"/>
            <a:ext cx="16001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JWT Authentication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852" y="4972050"/>
            <a:ext cx="10381990" cy="695325"/>
          </a:xfrm>
          <a:prstGeom prst="roundRect">
            <a:avLst>
              <a:gd name="adj" fmla="val 3287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896327" y="5232082"/>
            <a:ext cx="228594" cy="1657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81950" y="5162550"/>
            <a:ext cx="8000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Database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6773" y="5133975"/>
            <a:ext cx="1057248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6773" y="5133975"/>
            <a:ext cx="105724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PostgreSQL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276" y="6191250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867753" y="63912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82050" y="6557009"/>
            <a:ext cx="228594" cy="125729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172545" y="7011760"/>
            <a:ext cx="152396" cy="130628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172545" y="7326085"/>
            <a:ext cx="152396" cy="130628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172545" y="7640410"/>
            <a:ext cx="152396" cy="130628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172545" y="7954735"/>
            <a:ext cx="152396" cy="130628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191095" y="6191250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05572" y="63912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19869" y="6522720"/>
            <a:ext cx="228594" cy="194309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10364" y="7011760"/>
            <a:ext cx="152396" cy="130628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10364" y="7326085"/>
            <a:ext cx="152396" cy="130628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10364" y="7640410"/>
            <a:ext cx="152396" cy="130628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10364" y="7954735"/>
            <a:ext cx="152396" cy="130628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3428914" y="6191250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343391" y="63912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886202" y="6523239"/>
            <a:ext cx="1371565" cy="19327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48183" y="7011760"/>
            <a:ext cx="152396" cy="130628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48183" y="7326085"/>
            <a:ext cx="152396" cy="130628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48183" y="7640410"/>
            <a:ext cx="152396" cy="130628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48183" y="7954735"/>
            <a:ext cx="152396" cy="130628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666733" y="6191250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581210" y="63912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2695507" y="6537007"/>
            <a:ext cx="228594" cy="165734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886002" y="7011760"/>
            <a:ext cx="152396" cy="130628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886002" y="7326085"/>
            <a:ext cx="152396" cy="130628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886002" y="7640410"/>
            <a:ext cx="152396" cy="130628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886002" y="795473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7067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067549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🚀 فازبندی و استراتژی محصول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از MVP تا پلتفرم خدماتی در ۱۸ ماه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849" y="1666874"/>
            <a:ext cx="3505112" cy="5019675"/>
          </a:xfrm>
          <a:prstGeom prst="roundRect">
            <a:avLst>
              <a:gd name="adj" fmla="val 8695"/>
            </a:avLst>
          </a:prstGeom>
          <a:solidFill>
            <a:srgbClr val="10B981">
              <a:alpha val="5000"/>
            </a:srgbClr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394" y="1590675"/>
            <a:ext cx="438139" cy="285750"/>
          </a:xfrm>
          <a:prstGeom prst="roundRect">
            <a:avLst>
              <a:gd name="adj" fmla="val 8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394" y="1590675"/>
            <a:ext cx="4381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الان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20129" y="1990724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34426" y="2123598"/>
            <a:ext cx="228594" cy="1914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72345" y="1914525"/>
            <a:ext cx="1533486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۱: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2345" y="2286000"/>
            <a:ext cx="153348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دفترچه دیجیتال (۰-۶ ماه)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7493" y="2714625"/>
            <a:ext cx="3009824" cy="19431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34426" y="2919132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34306" y="2867025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ویژگی‌های کلیدی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9889" y="3248024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ثبت خودرو با اطلاعات پایه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72525" y="3276599"/>
            <a:ext cx="152396" cy="952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19889" y="3562349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ثبت سوابق سرویس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72525" y="3590924"/>
            <a:ext cx="152396" cy="952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9889" y="3876674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یادآوری دو معیاری (زمان + کیلومتر)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72525" y="3905249"/>
            <a:ext cx="152396" cy="952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19889" y="4190999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گزارش ساده هزینه‌ها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72525" y="4219575"/>
            <a:ext cx="152396" cy="9524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67493" y="4810124"/>
            <a:ext cx="3009824" cy="1628775"/>
          </a:xfrm>
          <a:prstGeom prst="roundRect">
            <a:avLst>
              <a:gd name="adj" fmla="val 1403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34426" y="5020235"/>
            <a:ext cx="190495" cy="15127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96227" y="4962525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معیار موفقیت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9889" y="5343525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۱,۰۰۰ کاربر فعال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72525" y="5370739"/>
            <a:ext cx="152396" cy="97971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972525" y="5671457"/>
            <a:ext cx="152396" cy="12518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972525" y="6004832"/>
            <a:ext cx="152396" cy="8708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343291" y="1666874"/>
            <a:ext cx="3486062" cy="5019675"/>
          </a:xfrm>
          <a:prstGeom prst="roundRect">
            <a:avLst>
              <a:gd name="adj" fmla="val 874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4046" y="19811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248343" y="2106929"/>
            <a:ext cx="228594" cy="2057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48143" y="1904999"/>
            <a:ext cx="177160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۲: تکمیل تجربه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48143" y="2276474"/>
            <a:ext cx="177160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ویژگی‌های پیشرفته (۶-۱۲ ماه)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81410" y="2705099"/>
            <a:ext cx="3009824" cy="19431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48343" y="290960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48223" y="2857500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ویژگی‌های کلیدی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3806" y="3238500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تبدیل به Progressive Web App (PWA)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86442" y="3267075"/>
            <a:ext cx="152396" cy="952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733806" y="3552825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قابلیت کار آفلاین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86442" y="3581400"/>
            <a:ext cx="152396" cy="9524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33806" y="3867149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Push Notifications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86442" y="3895724"/>
            <a:ext cx="152396" cy="9524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733806" y="4181474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گزارش‌گیری پیشرفته و نمودارها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86442" y="4210049"/>
            <a:ext cx="152396" cy="95249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4581410" y="4800600"/>
            <a:ext cx="3009824" cy="1628775"/>
          </a:xfrm>
          <a:prstGeom prst="roundRect">
            <a:avLst>
              <a:gd name="adj" fmla="val 1403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248343" y="5010710"/>
            <a:ext cx="190495" cy="15127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210144" y="4952999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معیار موفقیت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3806" y="5334000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۱۰,۰۰۰ کاربر فعال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286442" y="5361214"/>
            <a:ext cx="152396" cy="97971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286442" y="5680982"/>
            <a:ext cx="152396" cy="8708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286442" y="5992585"/>
            <a:ext cx="152396" cy="9252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66733" y="1666874"/>
            <a:ext cx="3486062" cy="5019675"/>
          </a:xfrm>
          <a:prstGeom prst="roundRect">
            <a:avLst>
              <a:gd name="adj" fmla="val 874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57488" y="19811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571785" y="2098357"/>
            <a:ext cx="228594" cy="22288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57288" y="1904999"/>
            <a:ext cx="188590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فاز ۳: پلتفرم خدماتی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57288" y="2276474"/>
            <a:ext cx="188590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Vazirmatn"/>
                <a:rFonts ascii="Vazirmatn" hAnsi="Vazirmatn" eastAsia="Vazirmatn" cs="Vazirmatn"/>
              </a:rPr>
              <a:t>اتصال به اکوسیستم (۱۲-۱۸ ماه)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4852" y="2705099"/>
            <a:ext cx="3009824" cy="19431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71785" y="2909607"/>
            <a:ext cx="190495" cy="16248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371665" y="2857500"/>
            <a:ext cx="11239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ویژگی‌های کلیدی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7248" y="3238500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اتصال به تعویض روغنی‌ها و اتوسرویس‌ها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609884" y="3267075"/>
            <a:ext cx="152396" cy="9524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57248" y="3552825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رزرو نوبت آنلاین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609884" y="3581400"/>
            <a:ext cx="152396" cy="9524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57248" y="3867149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سیستم امتیازدهی و نظرات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609884" y="3895724"/>
            <a:ext cx="152396" cy="9524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57248" y="4181474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پرداخت درون‌برنامه‌ای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609884" y="4210049"/>
            <a:ext cx="152396" cy="95249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904852" y="4800600"/>
            <a:ext cx="3009824" cy="1628775"/>
          </a:xfrm>
          <a:prstGeom prst="roundRect">
            <a:avLst>
              <a:gd name="adj" fmla="val 1403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571785" y="5010710"/>
            <a:ext cx="190495" cy="15127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533586" y="4952999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معیار موفقیت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7248" y="5334000"/>
            <a:ext cx="270503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۵۰,۰۰۰+ کاربر فعال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609884" y="5361214"/>
            <a:ext cx="152396" cy="97971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609884" y="5657850"/>
            <a:ext cx="152396" cy="133349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609884" y="5981699"/>
            <a:ext cx="15239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🔮 چشم‌انداز آینده: سرویس هوشمند خودرو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سناریوی کامل تجربه کاربری در فاز ۳ و بعد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66874"/>
            <a:ext cx="10858228" cy="1162050"/>
          </a:xfrm>
          <a:prstGeom prst="roundRect">
            <a:avLst>
              <a:gd name="adj" fmla="val 2622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62960" y="186689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53456" y="2113954"/>
            <a:ext cx="380990" cy="2678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05192" y="1895474"/>
            <a:ext cx="606727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آقای امیر احمدی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43871" y="2361247"/>
            <a:ext cx="228594" cy="2114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15237" y="2333624"/>
            <a:ext cx="5524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۳۰ ساله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96147" y="2386965"/>
            <a:ext cx="228594" cy="1600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4146" y="2333624"/>
            <a:ext cx="8858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مالک پژو ۲۰۶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715057" y="2385536"/>
            <a:ext cx="228594" cy="1628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38759" y="2333624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کیلومتر: ۵۰,۰۰۰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19669" y="2368391"/>
            <a:ext cx="228594" cy="1971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05192" y="2333624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آخرین سرویس: ۳ ماه پیش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7138" y="3114675"/>
            <a:ext cx="2047823" cy="3362324"/>
          </a:xfrm>
          <a:prstGeom prst="roundRect">
            <a:avLst>
              <a:gd name="adj" fmla="val 1488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53496" y="32194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3496" y="32194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67753" y="34861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982050" y="3621881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77158" y="3409950"/>
            <a:ext cx="1076298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تشخیص هوشمند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7158" y="4171950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تشخیص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سرویس بعدی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۲ روز دیگر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172545" y="4182835"/>
            <a:ext cx="152396" cy="130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77158" y="4762500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نوتیفیکیشن با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تخمین هزینه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(۲ میلیون تومان)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172545" y="4773385"/>
            <a:ext cx="152396" cy="1306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77158" y="5353049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پاسخ صوتی: «بله، رزرو کن»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172545" y="5363935"/>
            <a:ext cx="152396" cy="13062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276918" y="3114675"/>
            <a:ext cx="2047823" cy="3362324"/>
          </a:xfrm>
          <a:prstGeom prst="roundRect">
            <a:avLst>
              <a:gd name="adj" fmla="val 1488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53276" y="32194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53276" y="32194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67533" y="34099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781830" y="3539966"/>
            <a:ext cx="228594" cy="19716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553136" y="3486150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رزرو اتوماتیک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6938" y="4019549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بررسی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موقعیت مکانی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کاربر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972325" y="4030435"/>
            <a:ext cx="152396" cy="1306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76938" y="4610099"/>
            <a:ext cx="1647783" cy="714375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انتخاب بهترین مرکز: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گیربکس آپ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(۴.۸ امتیاز)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972325" y="4620985"/>
            <a:ext cx="152396" cy="1306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76938" y="5438774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ثبت نوبت ساعت ۱۰ صبح و ارسال تأییدیه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972325" y="5449660"/>
            <a:ext cx="152396" cy="13062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5067173" y="3114675"/>
            <a:ext cx="2047823" cy="3362324"/>
          </a:xfrm>
          <a:prstGeom prst="roundRect">
            <a:avLst>
              <a:gd name="adj" fmla="val 1488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753056" y="32194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53056" y="32194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67313" y="34861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81610" y="3604736"/>
            <a:ext cx="228594" cy="2200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267193" y="3409950"/>
            <a:ext cx="1076298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دریافت خدمات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7193" y="4171950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مسیریابی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به مرکز سرویس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72105" y="4182835"/>
            <a:ext cx="152396" cy="1306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267193" y="4762500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اسکن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QR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برای دسترسی به اطلاعات خودرو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72105" y="4773385"/>
            <a:ext cx="152396" cy="1306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267193" y="5353049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سرویس: تعویض روغن + فیلترها + چک ترمز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72105" y="5363935"/>
            <a:ext cx="152396" cy="13062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2866953" y="3114675"/>
            <a:ext cx="2047823" cy="3362324"/>
          </a:xfrm>
          <a:prstGeom prst="roundRect">
            <a:avLst>
              <a:gd name="adj" fmla="val 1488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543311" y="32194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43311" y="32194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57568" y="34861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371865" y="3606165"/>
            <a:ext cx="228594" cy="21717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066973" y="3409950"/>
            <a:ext cx="1076298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به‌روزرسانی خودکار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6973" y="4171950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همگام‌سازی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خودکار سوابق سرویس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62360" y="4182835"/>
            <a:ext cx="152396" cy="13062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066973" y="4762500"/>
            <a:ext cx="1647783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ثبت هزینه‌ها به تفکیک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62360" y="4773385"/>
            <a:ext cx="152396" cy="13062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066973" y="5114925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پیشنهاد زمان سرویس بعدی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62360" y="5125810"/>
            <a:ext cx="152396" cy="130628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62360" y="5716360"/>
            <a:ext cx="152396" cy="130628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666733" y="3114675"/>
            <a:ext cx="2047823" cy="3362324"/>
          </a:xfrm>
          <a:prstGeom prst="roundRect">
            <a:avLst>
              <a:gd name="adj" fmla="val 1488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343091" y="321944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43091" y="321944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۵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57348" y="34861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C4899">
              <a:alpha val="20000"/>
            </a:srgbClr>
          </a:soli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2171645" y="3617595"/>
            <a:ext cx="228594" cy="19430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66753" y="3409950"/>
            <a:ext cx="1076298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امتیازدهی دوطرفه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6753" y="4171950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کاربر به مرکز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امتیاز می‌دهد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2362140" y="4182835"/>
            <a:ext cx="152396" cy="13062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66753" y="4762500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مرکز هم کاربر را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ارزیابی می‌کند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2362140" y="4773385"/>
            <a:ext cx="152396" cy="13062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66753" y="5353049"/>
            <a:ext cx="1647783" cy="4762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استفاده از داده‌ها در پیشنهادهای آینده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2362140" y="536393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104584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458450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🛠️ پیش‌نیازهای اجرایی چشم‌انداز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الزامات فنی و عملیاتی برای فاز ۳ و بعد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1095" y="1666874"/>
            <a:ext cx="5333866" cy="2676524"/>
          </a:xfrm>
          <a:prstGeom prst="roundRect">
            <a:avLst>
              <a:gd name="adj" fmla="val 1138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7753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82050" y="20069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62720" y="1943100"/>
            <a:ext cx="25907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پلتفرم مراکز (Provider Platform)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115" y="2476499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پنل/اپ جداگانه برای مراکز سرویس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2487385"/>
            <a:ext cx="152396" cy="1306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91115" y="2809875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مدیریت پروفایل، ساعات کاری، ظرفیت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2820760"/>
            <a:ext cx="152396" cy="13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91115" y="3143250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سیستم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نوبت‌دهی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و تقویم ظرفیت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154135"/>
            <a:ext cx="152396" cy="1306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91115" y="3476624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صدور فاکتور با آیتم‌های تفکیکی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487510"/>
            <a:ext cx="152396" cy="1306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91115" y="3809999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پذیرش مشتری با QR (Check-in)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820885"/>
            <a:ext cx="152396" cy="13062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6733" y="1666874"/>
            <a:ext cx="5333866" cy="2676524"/>
          </a:xfrm>
          <a:prstGeom prst="roundRect">
            <a:avLst>
              <a:gd name="adj" fmla="val 1138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43391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457688" y="20069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19389" y="1943100"/>
            <a:ext cx="180970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هوش مصنوعی پیشرفته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53" y="2476499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الگوریتم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پیشنهاد سرویس بعدی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(ML)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2487385"/>
            <a:ext cx="152396" cy="130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6753" y="2809875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تخمین‌زن هزینه پویا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2820760"/>
            <a:ext cx="152396" cy="1306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6753" y="3143250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موتور پیشنهاد مرکز (Ranking)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3154135"/>
            <a:ext cx="152396" cy="1306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6753" y="3476624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NLP برای دستورات صوتی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3487510"/>
            <a:ext cx="152396" cy="130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6753" y="3809999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تشخیص قیمت‌گذاری غیرعادی (ضدتقلب)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3820885"/>
            <a:ext cx="152396" cy="13062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191095" y="4533900"/>
            <a:ext cx="5333866" cy="2676524"/>
          </a:xfrm>
          <a:prstGeom prst="roundRect">
            <a:avLst>
              <a:gd name="adj" fmla="val 1138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867753" y="473392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82050" y="4851082"/>
            <a:ext cx="228594" cy="2228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39019" y="4810124"/>
            <a:ext cx="151443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یکپارچگی‌های کلیدی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115" y="5343525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نقشه و مسیریابی (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Google Maps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5354410"/>
            <a:ext cx="152396" cy="130628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5687785"/>
            <a:ext cx="152396" cy="130628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021160"/>
            <a:ext cx="152396" cy="130628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354535"/>
            <a:ext cx="152396" cy="130628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6687910"/>
            <a:ext cx="152396" cy="13062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66733" y="4533900"/>
            <a:ext cx="5333866" cy="2676524"/>
          </a:xfrm>
          <a:prstGeom prst="roundRect">
            <a:avLst>
              <a:gd name="adj" fmla="val 1138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343391" y="473392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457688" y="4853940"/>
            <a:ext cx="228594" cy="21717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038399" y="4810124"/>
            <a:ext cx="219069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داده، حریم خصوصی و امنیت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753" y="5343525"/>
            <a:ext cx="4933826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مدل </a:t>
            </a: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رضایت‌نامه شفاف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(Consent)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5354410"/>
            <a:ext cx="152396" cy="130628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5687785"/>
            <a:ext cx="152396" cy="130628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6021160"/>
            <a:ext cx="152396" cy="130628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6354535"/>
            <a:ext cx="152396" cy="130628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6687910"/>
            <a:ext cx="152396" cy="13062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66733" y="7400925"/>
            <a:ext cx="10858228" cy="2676524"/>
          </a:xfrm>
          <a:prstGeom prst="roundRect">
            <a:avLst>
              <a:gd name="adj" fmla="val 1138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867753" y="76009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982050" y="7732394"/>
            <a:ext cx="228594" cy="194309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8221435"/>
            <a:ext cx="152396" cy="130628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8554810"/>
            <a:ext cx="152396" cy="130628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8888185"/>
            <a:ext cx="152396" cy="130628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9221560"/>
            <a:ext cx="152396" cy="130628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955493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92106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210675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📊 KPIs و مدیریت ریسک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معیارهای موفقیت و راهبردهای کاهش ریسک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1095" y="1666874"/>
            <a:ext cx="5333866" cy="3762374"/>
          </a:xfrm>
          <a:prstGeom prst="roundRect">
            <a:avLst>
              <a:gd name="adj" fmla="val 810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7753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82050" y="2032634"/>
            <a:ext cx="228594" cy="12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86682" y="1943100"/>
            <a:ext cx="10667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معیارهای رشد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115" y="2476499"/>
            <a:ext cx="4933826" cy="1543050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43951" y="2690812"/>
            <a:ext cx="228594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39099" y="262890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کاربران فعال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4761" y="3009900"/>
            <a:ext cx="1647783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4761" y="3009900"/>
            <a:ext cx="164778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فاز ۱: ۱,۰۰۰ کاربر (۳ ماه)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8859" y="3009900"/>
            <a:ext cx="1771605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8859" y="3009900"/>
            <a:ext cx="177160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فاز ۲: ۱۰,۰۰۰ کاربر (۱۲ ماه)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9019" y="3495675"/>
            <a:ext cx="1933526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9019" y="3495675"/>
            <a:ext cx="193352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فاز ۳: ۵۰,۰۰۰+ کاربر (۱۸ ماه)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115" y="4171950"/>
            <a:ext cx="4933826" cy="1057275"/>
          </a:xfrm>
          <a:prstGeom prst="roundRect">
            <a:avLst>
              <a:gd name="adj" fmla="val 216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43951" y="4349115"/>
            <a:ext cx="228594" cy="2171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48623" y="4324349"/>
            <a:ext cx="8191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نرخ نگهداری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29594" y="4705350"/>
            <a:ext cx="942951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9594" y="4705350"/>
            <a:ext cx="94295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روز ۱: ۵۰%+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5197" y="4705350"/>
            <a:ext cx="1000099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5197" y="4705350"/>
            <a:ext cx="100009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روز ۷: ۳۰%+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3651" y="4705350"/>
            <a:ext cx="1057248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3651" y="4705350"/>
            <a:ext cx="105724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روز ۳۰: ۲۰%+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53056" y="4705350"/>
            <a:ext cx="1076298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3056" y="4705350"/>
            <a:ext cx="107629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ماهانه: ۴۰%+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1666874"/>
            <a:ext cx="5333866" cy="3762374"/>
          </a:xfrm>
          <a:prstGeom prst="roundRect">
            <a:avLst>
              <a:gd name="adj" fmla="val 810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43391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57688" y="1992629"/>
            <a:ext cx="228594" cy="20573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71825" y="1943100"/>
            <a:ext cx="12572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معیارهای کیفیت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6753" y="2476499"/>
            <a:ext cx="4933826" cy="1057275"/>
          </a:xfrm>
          <a:prstGeom prst="roundRect">
            <a:avLst>
              <a:gd name="adj" fmla="val 216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419589" y="2669381"/>
            <a:ext cx="228594" cy="18573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514737" y="262890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امتیاز کاربری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62360" y="3009900"/>
            <a:ext cx="1085822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62360" y="3009900"/>
            <a:ext cx="108582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هدف: ۴+ از 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6753" y="3686175"/>
            <a:ext cx="4933826" cy="1057275"/>
          </a:xfrm>
          <a:prstGeom prst="roundRect">
            <a:avLst>
              <a:gd name="adj" fmla="val 216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19589" y="3890486"/>
            <a:ext cx="228594" cy="16287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581410" y="3838574"/>
            <a:ext cx="7619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عملکرد فنی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4241" y="4219575"/>
            <a:ext cx="1323941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4241" y="4219575"/>
            <a:ext cx="132394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بارگذاری: &lt; ۲ ثانیه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66953" y="4219575"/>
            <a:ext cx="1352516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66953" y="4219575"/>
            <a:ext cx="135251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Lighthouse: &gt; ۹۰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47783" y="4219575"/>
            <a:ext cx="1104872" cy="371475"/>
          </a:xfrm>
          <a:prstGeom prst="roundRect">
            <a:avLst>
              <a:gd name="adj" fmla="val 41025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7783" y="4219575"/>
            <a:ext cx="1104872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نرخ خطا: &lt; ۱%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9374" y="5657850"/>
            <a:ext cx="3495587" cy="3171825"/>
          </a:xfrm>
          <a:prstGeom prst="roundRect">
            <a:avLst>
              <a:gd name="adj" fmla="val 9609"/>
            </a:avLst>
          </a:prstGeom>
          <a:solidFill>
            <a:srgbClr val="EF4444">
              <a:alpha val="1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867753" y="58578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982050" y="5993606"/>
            <a:ext cx="228594" cy="185737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229394" y="6467474"/>
            <a:ext cx="3095547" cy="885825"/>
          </a:xfrm>
          <a:prstGeom prst="roundRect">
            <a:avLst>
              <a:gd name="adj" fmla="val 2580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020149" y="6965496"/>
            <a:ext cx="152396" cy="146957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229394" y="7505699"/>
            <a:ext cx="3095547" cy="885825"/>
          </a:xfrm>
          <a:prstGeom prst="roundRect">
            <a:avLst>
              <a:gd name="adj" fmla="val 2580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020149" y="8003721"/>
            <a:ext cx="152396" cy="146957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4352816" y="5657850"/>
            <a:ext cx="3495587" cy="3171825"/>
          </a:xfrm>
          <a:prstGeom prst="roundRect">
            <a:avLst>
              <a:gd name="adj" fmla="val 9609"/>
            </a:avLst>
          </a:prstGeom>
          <a:solidFill>
            <a:srgbClr val="F59E0B">
              <a:alpha val="1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181670" y="58578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295967" y="5997892"/>
            <a:ext cx="228594" cy="177164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4552836" y="6467474"/>
            <a:ext cx="3095547" cy="885825"/>
          </a:xfrm>
          <a:prstGeom prst="roundRect">
            <a:avLst>
              <a:gd name="adj" fmla="val 2580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334066" y="6965496"/>
            <a:ext cx="152396" cy="146957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552836" y="7505699"/>
            <a:ext cx="3095547" cy="885825"/>
          </a:xfrm>
          <a:prstGeom prst="roundRect">
            <a:avLst>
              <a:gd name="adj" fmla="val 2580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334066" y="8003721"/>
            <a:ext cx="152396" cy="146957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666733" y="5657850"/>
            <a:ext cx="3495587" cy="3171825"/>
          </a:xfrm>
          <a:prstGeom prst="roundRect">
            <a:avLst>
              <a:gd name="adj" fmla="val 9609"/>
            </a:avLst>
          </a:prstGeom>
          <a:solidFill>
            <a:srgbClr val="10B981">
              <a:alpha val="1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505112" y="58578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619409" y="5989319"/>
            <a:ext cx="228594" cy="194309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866753" y="6467474"/>
            <a:ext cx="3095547" cy="885825"/>
          </a:xfrm>
          <a:prstGeom prst="roundRect">
            <a:avLst>
              <a:gd name="adj" fmla="val 2580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657508" y="6965496"/>
            <a:ext cx="152396" cy="146957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866753" y="7505699"/>
            <a:ext cx="3095547" cy="1123949"/>
          </a:xfrm>
          <a:prstGeom prst="roundRect">
            <a:avLst>
              <a:gd name="adj" fmla="val 2033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657508" y="8003721"/>
            <a:ext cx="152396" cy="1469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117"/>
            </a:gs>
            <a:gs pos="50000">
              <a:srgbClr val="161B22"/>
            </a:gs>
            <a:gs pos="100000">
              <a:srgbClr val="1F293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99917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991724"/>
          </a:xfrm>
          <a:prstGeom prst="rect">
            <a:avLst/>
          </a:prstGeom>
          <a:solidFill>
            <a:srgbClr val="0D111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33" y="380999"/>
            <a:ext cx="10858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392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🎯 خلاصه و گام بعدی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047749"/>
            <a:ext cx="10858228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A7F3D0"/>
                </a:solidFill>
                <a:latin typeface="Vazirmatn"/>
                <a:rFonts ascii="Vazirmatn" hAnsi="Vazirmatn" eastAsia="Vazirmatn" cs="Vazirmatn"/>
              </a:rPr>
              <a:t>چرا خودروبان؟ چرا الان؟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53276" y="1666874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7753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82050" y="20069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67713" y="1943100"/>
            <a:ext cx="2857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بازار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3296" y="247649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۱۰+ میلیون مالک خودرو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2487385"/>
            <a:ext cx="152396" cy="1306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53296" y="2790824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۷۰% هنوز سنتی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2801710"/>
            <a:ext cx="152396" cy="13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53296" y="310514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رقبا: یا پیچیده یا محدود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72545" y="3116035"/>
            <a:ext cx="152396" cy="1306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91095" y="1666874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5572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19869" y="1986915"/>
            <a:ext cx="228594" cy="2171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29334" y="1943100"/>
            <a:ext cx="3619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تمایز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115" y="247649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ساده‌ترین + هوشمندترین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10364" y="2487385"/>
            <a:ext cx="152396" cy="1306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91115" y="2790824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فارسی‌سازی کامل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10364" y="280171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91115" y="310514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مدل فریمیوم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10364" y="3116035"/>
            <a:ext cx="152396" cy="130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91115" y="3419474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وب‌اپلیکیشن مدرن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10364" y="3430360"/>
            <a:ext cx="152396" cy="13062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428914" y="1666874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43391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57688" y="2032634"/>
            <a:ext cx="228594" cy="125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62360" y="1943100"/>
            <a:ext cx="6667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تکنولوژی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8934" y="247649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Vite + Svelte + Django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2487385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28934" y="2790824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مقیاس‌پذیر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2801710"/>
            <a:ext cx="152396" cy="1306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28934" y="310514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PWA Ready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3116035"/>
            <a:ext cx="152396" cy="1306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628934" y="3419474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امنیت بالا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48183" y="3430360"/>
            <a:ext cx="152396" cy="13062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6733" y="1666874"/>
            <a:ext cx="2571685" cy="2266950"/>
          </a:xfrm>
          <a:prstGeom prst="roundRect">
            <a:avLst>
              <a:gd name="adj" fmla="val 1344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581210" y="18668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695507" y="1999773"/>
            <a:ext cx="228594" cy="1914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47823" y="1943100"/>
            <a:ext cx="4190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مسیر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753" y="247649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فاز ۱: MVP (۶ ماه)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86002" y="2487385"/>
            <a:ext cx="152396" cy="13062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6753" y="2790824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فاز ۲: PWA (۱۲ ماه)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86002" y="2801710"/>
            <a:ext cx="152396" cy="1306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6753" y="3105149"/>
            <a:ext cx="2171645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فاز ۳: پلتفرم (۱۸ ماه)</a:t>
            </a: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86002" y="3116035"/>
            <a:ext cx="152396" cy="130628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191095" y="4257675"/>
            <a:ext cx="5333866" cy="2371725"/>
          </a:xfrm>
          <a:prstGeom prst="roundRect">
            <a:avLst>
              <a:gd name="adj" fmla="val 12851"/>
            </a:avLst>
          </a:prstGeom>
          <a:solidFill>
            <a:srgbClr val="10B981">
              <a:alpha val="5000"/>
            </a:srgbClr>
          </a:solidFill>
          <a:ln w="825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867753" y="44577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982050" y="4589145"/>
            <a:ext cx="228594" cy="19430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715257" y="4533900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وضعیت فعلی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81930" y="5067299"/>
            <a:ext cx="1543011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39199" y="5192661"/>
            <a:ext cx="171445" cy="14932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896227" y="5143500"/>
            <a:ext cx="106677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تحلیل رقبا: تکمیل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38879" y="5067299"/>
            <a:ext cx="1847803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400939" y="5192661"/>
            <a:ext cx="171445" cy="1493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953176" y="5143500"/>
            <a:ext cx="137156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طراحی محصول: تکمیل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15237" y="5553074"/>
            <a:ext cx="1809704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39199" y="5668911"/>
            <a:ext cx="171445" cy="149327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7515037" y="5553074"/>
            <a:ext cx="1904952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134246" y="5668911"/>
            <a:ext cx="171445" cy="149327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9239019" y="6038849"/>
            <a:ext cx="2085922" cy="390525"/>
          </a:xfrm>
          <a:prstGeom prst="roundRect">
            <a:avLst>
              <a:gd name="adj" fmla="val 3902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039199" y="6164211"/>
            <a:ext cx="171445" cy="149327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666733" y="4257675"/>
            <a:ext cx="5333866" cy="2371725"/>
          </a:xfrm>
          <a:prstGeom prst="roundRect">
            <a:avLst>
              <a:gd name="adj" fmla="val 12851"/>
            </a:avLst>
          </a:prstGeom>
          <a:solidFill>
            <a:srgbClr val="F59E0B">
              <a:alpha val="5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343391" y="44577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457688" y="4583429"/>
            <a:ext cx="228594" cy="20573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019449" y="4533900"/>
            <a:ext cx="120964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سرمایه مورد نیاز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571985" y="5098732"/>
            <a:ext cx="228594" cy="16573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105172" y="5067299"/>
            <a:ext cx="139061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مبلغ: </a:t>
            </a:r>
            <a:r>
              <a:rPr sz="956" b="1">
                <a:solidFill>
                  <a:srgbClr val="F59E0B"/>
                </a:solidFill>
                <a:latin typeface="Vazirmatn"/>
                <a:rFonts ascii="Vazirmatn" hAnsi="Vazirmatn" eastAsia="Vazirmatn" cs="Vazirmatn"/>
              </a:rPr>
              <a:t>[X میلیون تومان]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571985" y="5446394"/>
            <a:ext cx="228594" cy="19430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790955" y="5419725"/>
            <a:ext cx="70483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سهام: </a:t>
            </a:r>
            <a:r>
              <a:rPr sz="956" b="1">
                <a:solidFill>
                  <a:srgbClr val="F59E0B"/>
                </a:solidFill>
                <a:latin typeface="Vazirmatn"/>
                <a:rFonts ascii="Vazirmatn" hAnsi="Vazirmatn" eastAsia="Vazirmatn" cs="Vazirmatn"/>
              </a:rPr>
              <a:t>[X]%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571985" y="5789294"/>
            <a:ext cx="228594" cy="194309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571985" y="6151245"/>
            <a:ext cx="228594" cy="194309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6200619" y="6953249"/>
            <a:ext cx="5324341" cy="2657475"/>
          </a:xfrm>
          <a:prstGeom prst="roundRect">
            <a:avLst>
              <a:gd name="adj" fmla="val 1146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867753" y="7153274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10982050" y="7293292"/>
            <a:ext cx="228594" cy="177164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11096347" y="7803832"/>
            <a:ext cx="228594" cy="165734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11096347" y="8141017"/>
            <a:ext cx="228594" cy="177164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11096347" y="8494395"/>
            <a:ext cx="228594" cy="194309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11096347" y="8841581"/>
            <a:ext cx="228594" cy="185737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11096347" y="9213532"/>
            <a:ext cx="228594" cy="165734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666733" y="6953249"/>
            <a:ext cx="5343391" cy="2657475"/>
          </a:xfrm>
          <a:prstGeom prst="roundRect">
            <a:avLst>
              <a:gd name="adj" fmla="val 11469"/>
            </a:avLst>
          </a:prstGeom>
          <a:solidFill>
            <a:srgbClr val="10B981">
              <a:alpha val="10000"/>
            </a:srgbClr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666833" y="8020049"/>
            <a:ext cx="3343191" cy="533399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