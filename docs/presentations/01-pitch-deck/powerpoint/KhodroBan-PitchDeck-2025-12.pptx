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jp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jp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jp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jp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Relationship Id="rId11" Type="http://schemas.openxmlformats.org/officeDocument/2006/relationships/image" Target="../media/image22.png"/><Relationship Id="rId12" Type="http://schemas.openxmlformats.org/officeDocument/2006/relationships/image" Target="../media/image50.png"/><Relationship Id="rId13" Type="http://schemas.openxmlformats.org/officeDocument/2006/relationships/image" Target="../media/image51.png"/><Relationship Id="rId14" Type="http://schemas.openxmlformats.org/officeDocument/2006/relationships/image" Target="../media/image52.png"/><Relationship Id="rId15" Type="http://schemas.openxmlformats.org/officeDocument/2006/relationships/image" Target="../media/image53.png"/><Relationship Id="rId16" Type="http://schemas.openxmlformats.org/officeDocument/2006/relationships/image" Target="../media/image54.png"/><Relationship Id="rId17" Type="http://schemas.openxmlformats.org/officeDocument/2006/relationships/image" Target="../media/image55.png"/><Relationship Id="rId18" Type="http://schemas.openxmlformats.org/officeDocument/2006/relationships/image" Target="../media/image56.png"/><Relationship Id="rId19" Type="http://schemas.openxmlformats.org/officeDocument/2006/relationships/image" Target="../media/image57.png"/><Relationship Id="rId20" Type="http://schemas.openxmlformats.org/officeDocument/2006/relationships/image" Target="../media/image58.png"/><Relationship Id="rId21" Type="http://schemas.openxmlformats.org/officeDocument/2006/relationships/image" Target="../media/image59.png"/><Relationship Id="rId22" Type="http://schemas.openxmlformats.org/officeDocument/2006/relationships/image" Target="../media/image60.png"/><Relationship Id="rId23" Type="http://schemas.openxmlformats.org/officeDocument/2006/relationships/image" Target="../media/image6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Relationship Id="rId12" Type="http://schemas.openxmlformats.org/officeDocument/2006/relationships/image" Target="../media/image78.png"/><Relationship Id="rId13" Type="http://schemas.openxmlformats.org/officeDocument/2006/relationships/image" Target="../media/image79.png"/><Relationship Id="rId14" Type="http://schemas.openxmlformats.org/officeDocument/2006/relationships/image" Target="../media/image80.png"/><Relationship Id="rId15" Type="http://schemas.openxmlformats.org/officeDocument/2006/relationships/image" Target="../media/image81.png"/><Relationship Id="rId16" Type="http://schemas.openxmlformats.org/officeDocument/2006/relationships/image" Target="../media/image82.png"/><Relationship Id="rId17" Type="http://schemas.openxmlformats.org/officeDocument/2006/relationships/image" Target="../media/image83.png"/><Relationship Id="rId18" Type="http://schemas.openxmlformats.org/officeDocument/2006/relationships/image" Target="../media/image84.png"/><Relationship Id="rId19" Type="http://schemas.openxmlformats.org/officeDocument/2006/relationships/image" Target="../media/image85.png"/><Relationship Id="rId20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1A2E"/>
            </a:gs>
            <a:gs pos="50000">
              <a:srgbClr val="16213E"/>
            </a:gs>
            <a:gs pos="100000">
              <a:srgbClr val="0F3460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1A2E">
                  <a:alpha val="80000"/>
                </a:srgbClr>
              </a:gs>
              <a:gs pos="50000">
                <a:srgbClr val="16213E">
                  <a:alpha val="80000"/>
                </a:srgbClr>
              </a:gs>
              <a:gs pos="100000">
                <a:srgbClr val="0F3460">
                  <a:alpha val="80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19609" y="1009649"/>
            <a:ext cx="952476" cy="952499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810104" y="1289826"/>
            <a:ext cx="571485" cy="3921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76678" y="2247899"/>
            <a:ext cx="2447863" cy="10191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406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خودروبان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95627" y="3448049"/>
            <a:ext cx="4400439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950"/>
              </a:spcAft>
            </a:pPr>
            <a:r>
              <a:rPr sz="1913" b="0">
                <a:solidFill>
                  <a:srgbClr val="4FC3F7"/>
                </a:solidFill>
                <a:latin typeface="Vazirmatn"/>
                <a:rFonts ascii="Vazirmatn" hAnsi="Vazirmatn" eastAsia="Vazirmatn" cs="Vazirmatn"/>
              </a:rPr>
              <a:t>دفترچه دیجیتال هوشمند خودرو شما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9824" y="4210049"/>
            <a:ext cx="618157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260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یادآوری تعویض روغن و سرویس‌های دوره‌ای | مدیریت هزینه‌ها | همیشه در دسترس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19449" y="5086350"/>
            <a:ext cx="4152796" cy="761999"/>
          </a:xfrm>
          <a:prstGeom prst="roundRect">
            <a:avLst>
              <a:gd name="adj" fmla="val 40000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9964" y="5295899"/>
            <a:ext cx="3371765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9800"/>
                </a:solidFill>
                <a:latin typeface="Vazirmatn"/>
                <a:rFonts ascii="Vazirmatn" hAnsi="Vazirmatn" eastAsia="Vazirmatn" cs="Vazirmatn"/>
              </a:rPr>
              <a:t>"دیگر هیچ سرویسی را فراموش نکنید"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1A2E"/>
            </a:gs>
            <a:gs pos="50000">
              <a:srgbClr val="16213E"/>
            </a:gs>
            <a:gs pos="100000">
              <a:srgbClr val="0F3460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1695" cy="696277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962775"/>
          </a:xfrm>
          <a:prstGeom prst="rect">
            <a:avLst/>
          </a:prstGeom>
          <a:gradFill rotWithShape="1">
            <a:gsLst>
              <a:gs pos="0">
                <a:srgbClr val="1A1A2E">
                  <a:alpha val="90000"/>
                </a:srgbClr>
              </a:gs>
              <a:gs pos="50000">
                <a:srgbClr val="16213E">
                  <a:alpha val="90000"/>
                </a:srgbClr>
              </a:gs>
              <a:gs pos="100000">
                <a:srgbClr val="0F3460">
                  <a:alpha val="90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571500"/>
            <a:ext cx="10858228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239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239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مشکل: فراموشی سرویس = هزینه‌های سنگین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182070" y="721929"/>
            <a:ext cx="342891" cy="28969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62720" y="1543050"/>
            <a:ext cx="3362240" cy="1866899"/>
          </a:xfrm>
          <a:prstGeom prst="roundRect">
            <a:avLst>
              <a:gd name="adj" fmla="val 16326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5712" y="1790700"/>
            <a:ext cx="666733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2870" b="1">
                <a:solidFill>
                  <a:srgbClr val="FF5252"/>
                </a:solidFill>
                <a:latin typeface="Vazirmatn"/>
                <a:rFonts ascii="Vazirmatn" hAnsi="Vazirmatn" eastAsia="Vazirmatn" cs="Vazirmatn"/>
              </a:rPr>
              <a:t>۹۰٪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0364" y="2647949"/>
            <a:ext cx="2866953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مالکان خودرو حداقل یک بار سرویس را فراموش کرده‌اند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9964" y="1543050"/>
            <a:ext cx="3362240" cy="1866899"/>
          </a:xfrm>
          <a:prstGeom prst="roundRect">
            <a:avLst>
              <a:gd name="adj" fmla="val 16326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67173" y="1790700"/>
            <a:ext cx="2057348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2870" b="1">
                <a:solidFill>
                  <a:srgbClr val="FF5252"/>
                </a:solidFill>
                <a:latin typeface="Vazirmatn"/>
                <a:rFonts ascii="Vazirmatn" hAnsi="Vazirmatn" eastAsia="Vazirmatn" cs="Vazirmatn"/>
              </a:rPr>
              <a:t>۱۵+ میلیون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7608" y="2647949"/>
            <a:ext cx="2866953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میانگین هزینه تعمیر موتور به دلیل تعویض دیرهنگام روغن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1543050"/>
            <a:ext cx="3362240" cy="1866899"/>
          </a:xfrm>
          <a:prstGeom prst="roundRect">
            <a:avLst>
              <a:gd name="adj" fmla="val 16326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00179" y="1790700"/>
            <a:ext cx="1104872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2870" b="1">
                <a:solidFill>
                  <a:srgbClr val="FF5252"/>
                </a:solidFill>
                <a:latin typeface="Vazirmatn"/>
                <a:rFonts ascii="Vazirmatn" hAnsi="Vazirmatn" eastAsia="Vazirmatn" cs="Vazirmatn"/>
              </a:rPr>
              <a:t>۳ از 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377" y="2647949"/>
            <a:ext cx="2866953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خودرو در ایران به دلیل نگهداری ضعیف دچار خرابی زودرس می‌شود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3790949"/>
            <a:ext cx="10858228" cy="2600325"/>
          </a:xfrm>
          <a:prstGeom prst="roundRect">
            <a:avLst>
              <a:gd name="adj" fmla="val 11721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00" y="4086225"/>
            <a:ext cx="10267693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4FC3F7"/>
                </a:solidFill>
                <a:latin typeface="Vazirmatn"/>
                <a:rFonts ascii="Vazirmatn" hAnsi="Vazirmatn" eastAsia="Vazirmatn" cs="Vazirmatn"/>
              </a:rPr>
              <a:t>مشکلات رایج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001099" y="4655820"/>
            <a:ext cx="228594" cy="19430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81750" y="4638674"/>
            <a:ext cx="287647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دفترچه کاغذی گم می‌شود یا ناخوانا می‌شود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001099" y="5055869"/>
            <a:ext cx="228594" cy="19430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24601" y="5038724"/>
            <a:ext cx="2933626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فراموش کردن زمان یا کیلومتر سرویس بعدی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001099" y="5455919"/>
            <a:ext cx="228594" cy="19430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324641" y="5438774"/>
            <a:ext cx="2533586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عدم پیگیری هزینه‌های واقعی نگهداری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001099" y="5855969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067473" y="5838824"/>
            <a:ext cx="279075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از دست رفتن سوابق هنگام تعویض گوشی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1A2E"/>
            </a:gs>
            <a:gs pos="50000">
              <a:srgbClr val="16213E"/>
            </a:gs>
            <a:gs pos="100000">
              <a:srgbClr val="0F3460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67624"/>
          </a:xfrm>
          <a:prstGeom prst="rect">
            <a:avLst/>
          </a:prstGeom>
          <a:gradFill rotWithShape="1">
            <a:gsLst>
              <a:gs pos="0">
                <a:srgbClr val="1A1A2E">
                  <a:alpha val="90000"/>
                </a:srgbClr>
              </a:gs>
              <a:gs pos="50000">
                <a:srgbClr val="16213E">
                  <a:alpha val="90000"/>
                </a:srgbClr>
              </a:gs>
              <a:gs pos="100000">
                <a:srgbClr val="0F3460">
                  <a:alpha val="90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571500"/>
            <a:ext cx="10858228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239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239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راه‌حل: خودروبان 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182070" y="721929"/>
            <a:ext cx="342891" cy="2896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6733" y="1304925"/>
            <a:ext cx="10858228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435" b="0">
                <a:solidFill>
                  <a:srgbClr val="4FC3F7"/>
                </a:solidFill>
                <a:latin typeface="Vazirmatn"/>
                <a:rFonts ascii="Vazirmatn" hAnsi="Vazirmatn" eastAsia="Vazirmatn" cs="Vazirmatn"/>
              </a:rPr>
              <a:t>دفترچه دیجیتال هوشمند که هرگز فراموش نمی‌کند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14917" y="2047874"/>
            <a:ext cx="5210044" cy="4762500"/>
          </a:xfrm>
          <a:prstGeom prst="roundRect">
            <a:avLst>
              <a:gd name="adj" fmla="val 6400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0184" y="2343150"/>
            <a:ext cx="4619509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خودروبان یک وب‌اپلیکیشن ساده و هوشمند است که: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039199" y="2886635"/>
            <a:ext cx="190495" cy="1512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05612" y="2867025"/>
            <a:ext cx="239071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سوابق سرویس خودرو را ثبت می‌کند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039199" y="3282483"/>
            <a:ext cx="190495" cy="15968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15117" y="3267075"/>
            <a:ext cx="258121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بر اساس زمان و کیلومتر یادآوری می‌کند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1039199" y="3686735"/>
            <a:ext cx="190495" cy="1512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29494" y="3667124"/>
            <a:ext cx="1666833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هزینه‌ها را پیگیری می‌کند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1039199" y="4092388"/>
            <a:ext cx="190495" cy="14007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62660" y="4067174"/>
            <a:ext cx="3333666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همیشه در دسترس است (موبایل، تبلت، دسکتاپ)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2047874"/>
            <a:ext cx="5210044" cy="3047999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6753" y="2247899"/>
            <a:ext cx="4810004" cy="2647949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67093" y="5381624"/>
            <a:ext cx="1619209" cy="1714500"/>
          </a:xfrm>
          <a:prstGeom prst="roundRect">
            <a:avLst>
              <a:gd name="adj" fmla="val 18823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926125" y="5581649"/>
            <a:ext cx="282095" cy="3429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76678" y="6067424"/>
            <a:ext cx="39051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4FC3F7"/>
                </a:solidFill>
                <a:latin typeface="Vazirmatn"/>
                <a:rFonts ascii="Vazirmatn" hAnsi="Vazirmatn" eastAsia="Vazirmatn" cs="Vazirmatn"/>
              </a:rPr>
              <a:t>ساده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7113" y="6467474"/>
            <a:ext cx="1219169" cy="4286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فقط ۳ کلیک تا ثبت سرویس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66913" y="5381624"/>
            <a:ext cx="1619209" cy="1714500"/>
          </a:xfrm>
          <a:prstGeom prst="roundRect">
            <a:avLst>
              <a:gd name="adj" fmla="val 18823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3105072" y="5611210"/>
            <a:ext cx="342891" cy="28377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952676" y="6067424"/>
            <a:ext cx="64768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4FC3F7"/>
                </a:solidFill>
                <a:latin typeface="Vazirmatn"/>
                <a:rFonts ascii="Vazirmatn" hAnsi="Vazirmatn" eastAsia="Vazirmatn" cs="Vazirmatn"/>
              </a:rPr>
              <a:t>هوشمند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66933" y="6467474"/>
            <a:ext cx="1219169" cy="4286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یادآوری بر اساس زمان و کیلومتر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733" y="5381624"/>
            <a:ext cx="1619209" cy="1714500"/>
          </a:xfrm>
          <a:prstGeom prst="roundRect">
            <a:avLst>
              <a:gd name="adj" fmla="val 18823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1304892" y="5631902"/>
            <a:ext cx="342891" cy="24239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323941" y="6067424"/>
            <a:ext cx="29526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4FC3F7"/>
                </a:solidFill>
                <a:latin typeface="Vazirmatn"/>
                <a:rFonts ascii="Vazirmatn" hAnsi="Vazirmatn" eastAsia="Vazirmatn" cs="Vazirmatn"/>
              </a:rPr>
              <a:t>امن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6753" y="6467474"/>
            <a:ext cx="1219169" cy="4286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داده‌ها در ابر، همیشه در دسترس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1A2E"/>
            </a:gs>
            <a:gs pos="50000">
              <a:srgbClr val="16213E"/>
            </a:gs>
            <a:gs pos="100000">
              <a:srgbClr val="0F3460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1A2E">
                  <a:alpha val="90000"/>
                </a:srgbClr>
              </a:gs>
              <a:gs pos="50000">
                <a:srgbClr val="16213E">
                  <a:alpha val="90000"/>
                </a:srgbClr>
              </a:gs>
              <a:gs pos="100000">
                <a:srgbClr val="0F3460">
                  <a:alpha val="90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476249"/>
            <a:ext cx="10858228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239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239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ویژگی‌های کلیدی MVP 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182070" y="632591"/>
            <a:ext cx="342891" cy="2778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6733" y="1209674"/>
            <a:ext cx="10858228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435" b="0">
                <a:solidFill>
                  <a:srgbClr val="4FC3F7"/>
                </a:solidFill>
                <a:latin typeface="Vazirmatn"/>
                <a:rFonts ascii="Vazirmatn" hAnsi="Vazirmatn" eastAsia="Vazirmatn" cs="Vazirmatn"/>
              </a:rPr>
              <a:t>همه چیز برای مدیریت نگهداری خودرو در یک جا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67473" y="1952624"/>
            <a:ext cx="3457488" cy="1571625"/>
          </a:xfrm>
          <a:prstGeom prst="roundRect">
            <a:avLst>
              <a:gd name="adj" fmla="val 19393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934426" y="2252005"/>
            <a:ext cx="342891" cy="2394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200919" y="2209800"/>
            <a:ext cx="1590635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مدیریت چند خودرو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91355" y="2686050"/>
            <a:ext cx="248596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ثبت و مدیریت اطلاعات چندین خودرو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96187" y="3038475"/>
            <a:ext cx="1781130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65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مدل، سال، رنگ، پلاک، کیلومتر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2340" y="1952624"/>
            <a:ext cx="3457488" cy="1571625"/>
          </a:xfrm>
          <a:prstGeom prst="roundRect">
            <a:avLst>
              <a:gd name="adj" fmla="val 19393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238819" y="2229835"/>
            <a:ext cx="342891" cy="2837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581510" y="2209800"/>
            <a:ext cx="1514437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یادآوری دو معیاری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95787" y="2686050"/>
            <a:ext cx="208592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هشدار بر اساس زمان و کیلومتر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48183" y="3038475"/>
            <a:ext cx="193352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65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"نزدیک موعد" و "گذشته از موعد"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1952624"/>
            <a:ext cx="3457488" cy="1571625"/>
          </a:xfrm>
          <a:prstGeom prst="roundRect">
            <a:avLst>
              <a:gd name="adj" fmla="val 19393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533686" y="2226879"/>
            <a:ext cx="342891" cy="28969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752556" y="2209800"/>
            <a:ext cx="1647783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ثبت سوابق سرویس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43031" y="2686050"/>
            <a:ext cx="214307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تاریخ، کیلومتر، هزینه، توضیحات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71645" y="3038475"/>
            <a:ext cx="170493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65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تعویض روغن، فیلتر، ترمز و...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7473" y="3762374"/>
            <a:ext cx="3457488" cy="1571625"/>
          </a:xfrm>
          <a:prstGeom prst="roundRect">
            <a:avLst>
              <a:gd name="adj" fmla="val 19393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934426" y="4048453"/>
            <a:ext cx="342891" cy="26604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715257" y="4019549"/>
            <a:ext cx="1076298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ثبت هزینه‌ها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2800" y="4495799"/>
            <a:ext cx="231451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سوخت، کارواش، تعمیرات، پارکینگ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5217" y="4848225"/>
            <a:ext cx="1962100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65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پیگیری هزینه‌های واقعی نگهداری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62340" y="3762374"/>
            <a:ext cx="3457488" cy="1571625"/>
          </a:xfrm>
          <a:prstGeom prst="roundRect">
            <a:avLst>
              <a:gd name="adj" fmla="val 19393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238819" y="4075057"/>
            <a:ext cx="342891" cy="21283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076798" y="4019549"/>
            <a:ext cx="1009624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گزارش ساده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00559" y="4495799"/>
            <a:ext cx="198115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جمع هزینه‌ها + لیست سوابق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29174" y="4848225"/>
            <a:ext cx="1543011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65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خروجی CSV برای نگهداری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6733" y="3762374"/>
            <a:ext cx="3457488" cy="1571625"/>
          </a:xfrm>
          <a:prstGeom prst="roundRect">
            <a:avLst>
              <a:gd name="adj" fmla="val 19393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3533686" y="4060277"/>
            <a:ext cx="342891" cy="24239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971625" y="4019549"/>
            <a:ext cx="1419189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همگام‌سازی ابری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7408" y="4495799"/>
            <a:ext cx="121916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بکاپ خودکار در ابر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90715" y="4848225"/>
            <a:ext cx="14953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65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استفاده روی چند دستگاه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1A2E"/>
            </a:gs>
            <a:gs pos="50000">
              <a:srgbClr val="16213E"/>
            </a:gs>
            <a:gs pos="100000">
              <a:srgbClr val="0F3460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05675"/>
          </a:xfrm>
          <a:prstGeom prst="rect">
            <a:avLst/>
          </a:prstGeom>
          <a:gradFill rotWithShape="1">
            <a:gsLst>
              <a:gs pos="0">
                <a:srgbClr val="1A1A2E">
                  <a:alpha val="90000"/>
                </a:srgbClr>
              </a:gs>
              <a:gs pos="50000">
                <a:srgbClr val="16213E">
                  <a:alpha val="90000"/>
                </a:srgbClr>
              </a:gs>
              <a:gs pos="100000">
                <a:srgbClr val="0F3460">
                  <a:alpha val="90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476249"/>
            <a:ext cx="10858228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239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239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طراحی شده برای شما 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182070" y="611899"/>
            <a:ext cx="342891" cy="3192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6733" y="1209674"/>
            <a:ext cx="10858228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435" b="0">
                <a:solidFill>
                  <a:srgbClr val="4FC3F7"/>
                </a:solidFill>
                <a:latin typeface="Vazirmatn"/>
                <a:rFonts ascii="Vazirmatn" hAnsi="Vazirmatn" eastAsia="Vazirmatn" cs="Vazirmatn"/>
              </a:rPr>
              <a:t>کاملاً فارسی | واکنش‌گرا | ساده و زیبا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48023" y="1952624"/>
            <a:ext cx="4095647" cy="2667000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91375" y="5000625"/>
            <a:ext cx="2533586" cy="18288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934426" y="5274879"/>
            <a:ext cx="342891" cy="2896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53316" y="5257800"/>
            <a:ext cx="1438239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فارسی‌سازی کامل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43811" y="5734050"/>
            <a:ext cx="1733506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راست‌چین | تقویم شمسی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29574" y="6086475"/>
            <a:ext cx="1247743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65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واحد تومان و کیلومتر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4" y="5000625"/>
            <a:ext cx="2533586" cy="18288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62720" y="5298527"/>
            <a:ext cx="342891" cy="24239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19769" y="5257800"/>
            <a:ext cx="800079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واکنش‌گرا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7788" y="5734050"/>
            <a:ext cx="2038299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کارکرد عالی روی موبایل، تبلت و دسکتاپ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48343" y="6343650"/>
            <a:ext cx="1257268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65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طراحی Mobile-First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38439" y="5000625"/>
            <a:ext cx="2533586" cy="18288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391015" y="5300005"/>
            <a:ext cx="342891" cy="23943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400439" y="5257800"/>
            <a:ext cx="838179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سرعت بالا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8994" y="5734050"/>
            <a:ext cx="150491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بارگذاری کمتر از ۲ ثانیه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2320" y="6086475"/>
            <a:ext cx="1562060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65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بدون نیاز به نصب (وب‌اپ)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733" y="5000625"/>
            <a:ext cx="2533586" cy="18288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2640182" y="5248275"/>
            <a:ext cx="282095" cy="3429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66773" y="5257800"/>
            <a:ext cx="1400139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رابط کاربری ساده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8199" y="5734050"/>
            <a:ext cx="191447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بدون پیچیدگی | فقط کاربردی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9684" y="6086475"/>
            <a:ext cx="135251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65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۳ کلیک تا انجام هر کار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1A2E"/>
            </a:gs>
            <a:gs pos="50000">
              <a:srgbClr val="16213E"/>
            </a:gs>
            <a:gs pos="100000">
              <a:srgbClr val="0F3460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48699"/>
          </a:xfrm>
          <a:prstGeom prst="rect">
            <a:avLst/>
          </a:prstGeom>
          <a:gradFill rotWithShape="1">
            <a:gsLst>
              <a:gs pos="0">
                <a:srgbClr val="1A1A2E">
                  <a:alpha val="90000"/>
                </a:srgbClr>
              </a:gs>
              <a:gs pos="50000">
                <a:srgbClr val="16213E">
                  <a:alpha val="90000"/>
                </a:srgbClr>
              </a:gs>
              <a:gs pos="100000">
                <a:srgbClr val="0F3460">
                  <a:alpha val="90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476249"/>
            <a:ext cx="10858228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239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239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فرصت بازار 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182070" y="679887"/>
            <a:ext cx="342891" cy="1832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6733" y="1209674"/>
            <a:ext cx="10858228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435" b="0">
                <a:solidFill>
                  <a:srgbClr val="4FC3F7"/>
                </a:solidFill>
                <a:latin typeface="Vazirmatn"/>
                <a:rFonts ascii="Vazirmatn" hAnsi="Vazirmatn" eastAsia="Vazirmatn" cs="Vazirmatn"/>
              </a:rPr>
              <a:t>بازار بزرگ و در حال دیجیتالی‌سازی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81470" y="1952624"/>
            <a:ext cx="6343491" cy="1343025"/>
          </a:xfrm>
          <a:prstGeom prst="roundRect">
            <a:avLst>
              <a:gd name="adj" fmla="val 2269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820129" y="2490536"/>
            <a:ext cx="457188" cy="27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29114" y="2200275"/>
            <a:ext cx="5200519" cy="5333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215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۱۰+ میلیون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9114" y="2809875"/>
            <a:ext cx="520051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مالک خودرو شخصی در ایران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81470" y="3533774"/>
            <a:ext cx="6343491" cy="1343025"/>
          </a:xfrm>
          <a:prstGeom prst="roundRect">
            <a:avLst>
              <a:gd name="adj" fmla="val 2269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820129" y="4017544"/>
            <a:ext cx="457188" cy="3850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29114" y="3781424"/>
            <a:ext cx="5200519" cy="5333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215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۷۰٪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114" y="4391025"/>
            <a:ext cx="520051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هنوز از روش‌های سنتی (دفترچه/یادداشت) استفاده می‌کنند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81470" y="5114925"/>
            <a:ext cx="6343491" cy="1343025"/>
          </a:xfrm>
          <a:prstGeom prst="roundRect">
            <a:avLst>
              <a:gd name="adj" fmla="val 2269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820129" y="5616742"/>
            <a:ext cx="457188" cy="34891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29114" y="5362575"/>
            <a:ext cx="5200519" cy="5333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215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۲۰۰+ میلیارد تومان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29114" y="5972175"/>
            <a:ext cx="520051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بازار سالانه سرویس و نگهداری خودرو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1952624"/>
            <a:ext cx="4228994" cy="2667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377" y="2200275"/>
            <a:ext cx="3733706" cy="2171700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6733" y="4857750"/>
            <a:ext cx="4228994" cy="3314700"/>
          </a:xfrm>
          <a:prstGeom prst="roundRect">
            <a:avLst>
              <a:gd name="adj" fmla="val 919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377" y="5105400"/>
            <a:ext cx="3733706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وضعیت رقبا 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419489" y="5205412"/>
            <a:ext cx="228594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457588" y="5662332"/>
            <a:ext cx="190495" cy="162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523961" y="5629275"/>
            <a:ext cx="279075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خیلی پیچیده هستند (پلتفرم‌های خدماتی)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457588" y="6062382"/>
            <a:ext cx="190495" cy="16248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57288" y="6029325"/>
            <a:ext cx="285742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خیلی ساده و محدود هستند (فقط یادآوری)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457588" y="6462432"/>
            <a:ext cx="190495" cy="16248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581210" y="6429375"/>
            <a:ext cx="1733506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تجربه کاربری ضعیفی دارند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438539" y="7281733"/>
            <a:ext cx="209544" cy="18123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14377" y="7667624"/>
            <a:ext cx="3733706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ترکیب </a:t>
            </a:r>
            <a:r>
              <a:rPr sz="1076" b="1">
                <a:solidFill>
                  <a:srgbClr val="4FC3F7"/>
                </a:solidFill>
                <a:latin typeface="Vazirmatn"/>
                <a:rFonts ascii="Vazirmatn" hAnsi="Vazirmatn" eastAsia="Vazirmatn" cs="Vazirmatn"/>
              </a:rPr>
              <a:t>سادگی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+ </a:t>
            </a:r>
            <a:r>
              <a:rPr sz="1076" b="1">
                <a:solidFill>
                  <a:srgbClr val="4FC3F7"/>
                </a:solidFill>
                <a:latin typeface="Vazirmatn"/>
                <a:rFonts ascii="Vazirmatn" hAnsi="Vazirmatn" eastAsia="Vazirmatn" cs="Vazirmatn"/>
              </a:rPr>
              <a:t>هوشمندی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+ </a:t>
            </a:r>
            <a:r>
              <a:rPr sz="1076" b="1">
                <a:solidFill>
                  <a:srgbClr val="4FC3F7"/>
                </a:solidFill>
                <a:latin typeface="Vazirmatn"/>
                <a:rFonts ascii="Vazirmatn" hAnsi="Vazirmatn" eastAsia="Vazirmatn" cs="Vazirmatn"/>
              </a:rPr>
              <a:t>تجربه کاربری عالی</a:t>
            </a: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1A2E"/>
            </a:gs>
            <a:gs pos="50000">
              <a:srgbClr val="16213E"/>
            </a:gs>
            <a:gs pos="100000">
              <a:srgbClr val="0F3460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58350"/>
          </a:xfrm>
          <a:prstGeom prst="rect">
            <a:avLst/>
          </a:prstGeom>
          <a:gradFill rotWithShape="1">
            <a:gsLst>
              <a:gs pos="0">
                <a:srgbClr val="1A1A2E">
                  <a:alpha val="90000"/>
                </a:srgbClr>
              </a:gs>
              <a:gs pos="50000">
                <a:srgbClr val="16213E">
                  <a:alpha val="90000"/>
                </a:srgbClr>
              </a:gs>
              <a:gs pos="100000">
                <a:srgbClr val="0F3460">
                  <a:alpha val="90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476249"/>
            <a:ext cx="10858228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239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239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مدل کسب‌وکار 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182070" y="638503"/>
            <a:ext cx="342891" cy="2660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6733" y="1209674"/>
            <a:ext cx="10858228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435" b="0">
                <a:solidFill>
                  <a:srgbClr val="4FC3F7"/>
                </a:solidFill>
                <a:latin typeface="Vazirmatn"/>
                <a:rFonts ascii="Vazirmatn" hAnsi="Vazirmatn" eastAsia="Vazirmatn" cs="Vazirmatn"/>
              </a:rPr>
              <a:t>فریمیوم: رایگان برای جذب، Pro برای درآمد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8719" y="1952624"/>
            <a:ext cx="5286242" cy="48768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848703" y="2304157"/>
            <a:ext cx="380990" cy="3065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77198" y="2247899"/>
            <a:ext cx="628634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رایگان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039199" y="2919132"/>
            <a:ext cx="190495" cy="1624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391515" y="2905124"/>
            <a:ext cx="50481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۱ خودرو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039199" y="3319182"/>
            <a:ext cx="190495" cy="1624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81890" y="3305174"/>
            <a:ext cx="151443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یادآوری پایه (داخل اپ)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039199" y="3719232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572385" y="3705224"/>
            <a:ext cx="132394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ثبت سوابق سرویس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039199" y="4119282"/>
            <a:ext cx="190495" cy="1624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029574" y="4105274"/>
            <a:ext cx="866753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ثبت هزینه‌ها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039199" y="4519332"/>
            <a:ext cx="190495" cy="16248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086722" y="4505325"/>
            <a:ext cx="80960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گزارش ساده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3986" y="5953124"/>
            <a:ext cx="469570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هدف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3986" y="6296024"/>
            <a:ext cx="469570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جذب کاربر و اثبات ارزش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1952624"/>
            <a:ext cx="5286242" cy="48768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276718" y="2475607"/>
            <a:ext cx="380990" cy="30658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848003" y="2247899"/>
            <a:ext cx="1285842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Pro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8003" y="2714625"/>
            <a:ext cx="128584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325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۵۰,۰۰۰ تومان/ماه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467213" y="3271557"/>
            <a:ext cx="190495" cy="16248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038499" y="3257550"/>
            <a:ext cx="128584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خودروهای نامحدود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467213" y="3671607"/>
            <a:ext cx="190495" cy="16248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333666" y="3657600"/>
            <a:ext cx="199067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یادآوری پیشرفته (ایمیل + اپ)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467213" y="4071657"/>
            <a:ext cx="190495" cy="1624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190895" y="4057650"/>
            <a:ext cx="1133446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همگام‌سازی ابری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467213" y="4471707"/>
            <a:ext cx="190495" cy="16248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019449" y="4457700"/>
            <a:ext cx="130489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گزارش‌های پیشرفته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467213" y="4871757"/>
            <a:ext cx="190495" cy="16248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086122" y="4857750"/>
            <a:ext cx="123821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خروجی CSV/PDF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467213" y="5271807"/>
            <a:ext cx="190495" cy="16248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028974" y="5257800"/>
            <a:ext cx="129536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پشتیبانی اختصاصی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2000" y="5953124"/>
            <a:ext cx="469570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هدف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2000" y="6296024"/>
            <a:ext cx="469570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درآمدزایی پایدار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6733" y="7210424"/>
            <a:ext cx="10858228" cy="1971675"/>
          </a:xfrm>
          <a:prstGeom prst="roundRect">
            <a:avLst>
              <a:gd name="adj" fmla="val 15458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753456" y="8074426"/>
            <a:ext cx="476238" cy="25319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524561" y="8058150"/>
            <a:ext cx="2990775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913" b="1">
                <a:solidFill>
                  <a:srgbClr val="4CAF50"/>
                </a:solidFill>
                <a:latin typeface="Vazirmatn"/>
                <a:rFonts ascii="Vazirmatn" hAnsi="Vazirmatn" eastAsia="Vazirmatn" cs="Vazirmatn"/>
              </a:rPr>
              <a:t>۱,۰۰۰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24561" y="8629650"/>
            <a:ext cx="299077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کاربر فعال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38519" y="8058150"/>
            <a:ext cx="2990775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913" b="1">
                <a:solidFill>
                  <a:srgbClr val="4CAF50"/>
                </a:solidFill>
                <a:latin typeface="Vazirmatn"/>
                <a:rFonts ascii="Vazirmatn" hAnsi="Vazirmatn" eastAsia="Vazirmatn" cs="Vazirmatn"/>
              </a:rPr>
              <a:t>۱۰٪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38519" y="8629650"/>
            <a:ext cx="299077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تبدیل به Pro = ۱۰۰ مشترک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2000" y="8058150"/>
            <a:ext cx="2990775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913" b="1">
                <a:solidFill>
                  <a:srgbClr val="4CAF50"/>
                </a:solidFill>
                <a:latin typeface="Vazirmatn"/>
                <a:rFonts ascii="Vazirmatn" hAnsi="Vazirmatn" eastAsia="Vazirmatn" cs="Vazirmatn"/>
              </a:rPr>
              <a:t>۵ میلیون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2000" y="8629650"/>
            <a:ext cx="299077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درآمد ماهانه (تومان)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1A2E"/>
            </a:gs>
            <a:gs pos="50000">
              <a:srgbClr val="16213E"/>
            </a:gs>
            <a:gs pos="100000">
              <a:srgbClr val="0F3460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86725"/>
          </a:xfrm>
          <a:prstGeom prst="rect">
            <a:avLst/>
          </a:prstGeom>
          <a:gradFill rotWithShape="1">
            <a:gsLst>
              <a:gs pos="0">
                <a:srgbClr val="1A1A2E">
                  <a:alpha val="90000"/>
                </a:srgbClr>
              </a:gs>
              <a:gs pos="50000">
                <a:srgbClr val="16213E">
                  <a:alpha val="90000"/>
                </a:srgbClr>
              </a:gs>
              <a:gs pos="100000">
                <a:srgbClr val="0F3460">
                  <a:alpha val="90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476249"/>
            <a:ext cx="10858228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239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239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مسیر رشد 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182070" y="638503"/>
            <a:ext cx="342891" cy="2660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6733" y="1209674"/>
            <a:ext cx="10858228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435" b="0">
                <a:solidFill>
                  <a:srgbClr val="4FC3F7"/>
                </a:solidFill>
                <a:latin typeface="Vazirmatn"/>
                <a:rFonts ascii="Vazirmatn" hAnsi="Vazirmatn" eastAsia="Vazirmatn" cs="Vazirmatn"/>
              </a:rPr>
              <a:t>از دفترچه دیجیتال تا پلتفرم خدماتی</a:t>
            </a:r>
          </a:p>
        </p:txBody>
      </p:sp>
      <p:sp>
        <p:nvSpPr>
          <p:cNvPr id="6" name="Rectangle 5"/>
          <p:cNvSpPr/>
          <p:nvPr/>
        </p:nvSpPr>
        <p:spPr>
          <a:xfrm>
            <a:off x="5038599" y="1952624"/>
            <a:ext cx="2104972" cy="952499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67473" y="3190874"/>
            <a:ext cx="3457488" cy="4419600"/>
          </a:xfrm>
          <a:prstGeom prst="roundRect">
            <a:avLst>
              <a:gd name="adj" fmla="val 881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886802" y="3685682"/>
            <a:ext cx="342891" cy="2867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48503" y="3486150"/>
            <a:ext cx="1895427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فاز ۱: MVP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48503" y="3895724"/>
            <a:ext cx="189542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325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۰-۶ ماه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2740" y="3676649"/>
            <a:ext cx="400039" cy="304800"/>
          </a:xfrm>
          <a:prstGeom prst="roundRect">
            <a:avLst>
              <a:gd name="adj" fmla="val 125000"/>
            </a:avLst>
          </a:prstGeom>
          <a:solidFill>
            <a:srgbClr val="4CAF5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2740" y="3676649"/>
            <a:ext cx="40003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CAF50"/>
                </a:solidFill>
                <a:latin typeface="Vazirmatn"/>
                <a:rFonts ascii="Vazirmatn" hAnsi="Vazirmatn" eastAsia="Vazirmatn" cs="Vazirmatn"/>
              </a:rPr>
              <a:t>الان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1058248" y="4572153"/>
            <a:ext cx="171445" cy="1520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448563" y="4543425"/>
            <a:ext cx="149538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دفترچه دیجیتال هوشمند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1058248" y="4909830"/>
            <a:ext cx="171445" cy="12443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258068" y="4867274"/>
            <a:ext cx="1685882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ثبت خودرو و سوابق سرویس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1058248" y="5232143"/>
            <a:ext cx="171445" cy="14656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877178" y="5200650"/>
            <a:ext cx="1066773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یادآوری دو معیاری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1058248" y="5560141"/>
            <a:ext cx="171445" cy="13826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172445" y="5524499"/>
            <a:ext cx="77150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ثبت هزینه‌ها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1058248" y="5899047"/>
            <a:ext cx="171445" cy="12720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581910" y="5857875"/>
            <a:ext cx="136204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وب‌اپلیکیشن واکنش‌گرا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11058248" y="6222897"/>
            <a:ext cx="171445" cy="12720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381890" y="6181724"/>
            <a:ext cx="156206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حساب کاربری + بکاپ ابری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2740" y="6734175"/>
            <a:ext cx="2866953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هدف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2740" y="7048500"/>
            <a:ext cx="286695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CAF50"/>
                </a:solidFill>
                <a:latin typeface="Vazirmatn"/>
                <a:rFonts ascii="Vazirmatn" hAnsi="Vazirmatn" eastAsia="Vazirmatn" cs="Vazirmatn"/>
              </a:rPr>
              <a:t>۱,۰۰۰ کاربر فعال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62340" y="3190874"/>
            <a:ext cx="3457488" cy="4419600"/>
          </a:xfrm>
          <a:prstGeom prst="roundRect">
            <a:avLst>
              <a:gd name="adj" fmla="val 881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7191195" y="3669424"/>
            <a:ext cx="342891" cy="31925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57608" y="3486150"/>
            <a:ext cx="2381190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فاز ۲: تکمیل تجربه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57608" y="3895724"/>
            <a:ext cx="238119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325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۶-۱۲ ماه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7362640" y="4568005"/>
            <a:ext cx="171445" cy="16038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629134" y="4543425"/>
            <a:ext cx="1609684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PWA + ویژگی‌های پیشرفته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7362640" y="4905682"/>
            <a:ext cx="171445" cy="13273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257668" y="4867274"/>
            <a:ext cx="199067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تبدیل به Progressive Web App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7362640" y="5232143"/>
            <a:ext cx="171445" cy="14656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991075" y="5200650"/>
            <a:ext cx="1247743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Push Notifications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7362640" y="5560141"/>
            <a:ext cx="171445" cy="13826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686382" y="5524499"/>
            <a:ext cx="56196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کار آفلاین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7362640" y="5893516"/>
            <a:ext cx="171445" cy="13826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048223" y="5857875"/>
            <a:ext cx="1200119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گزارش‌گیری پیشرفته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7362640" y="6206305"/>
            <a:ext cx="171445" cy="16038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648183" y="6181724"/>
            <a:ext cx="159063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تمپلیت‌های سرویس بیشتر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57608" y="6734175"/>
            <a:ext cx="2866953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هدف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57608" y="7048500"/>
            <a:ext cx="286695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FC3F7"/>
                </a:solidFill>
                <a:latin typeface="Vazirmatn"/>
                <a:rFonts ascii="Vazirmatn" hAnsi="Vazirmatn" eastAsia="Vazirmatn" cs="Vazirmatn"/>
              </a:rPr>
              <a:t>۱۰,۰۰۰ کاربر فعال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6733" y="3190874"/>
            <a:ext cx="3457488" cy="4419600"/>
          </a:xfrm>
          <a:prstGeom prst="roundRect">
            <a:avLst>
              <a:gd name="adj" fmla="val 881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3486062" y="3696028"/>
            <a:ext cx="342891" cy="266043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62000" y="3486150"/>
            <a:ext cx="2381190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فاز ۳: پلتفرم خدماتی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2000" y="3895724"/>
            <a:ext cx="238119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325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۱۲+ ماه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9">
            <a:alphaModFix amt="100000"/>
          </a:blip>
          <a:stretch>
            <a:fillRect/>
          </a:stretch>
        </p:blipFill>
        <p:spPr>
          <a:xfrm>
            <a:off x="3657508" y="4603954"/>
            <a:ext cx="171445" cy="8849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752556" y="4543425"/>
            <a:ext cx="179065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اتصال به ارائه‌دهندگان خدمات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0">
            <a:alphaModFix amt="100000"/>
          </a:blip>
          <a:stretch>
            <a:fillRect/>
          </a:stretch>
        </p:blipFill>
        <p:spPr>
          <a:xfrm>
            <a:off x="3657508" y="4897386"/>
            <a:ext cx="171445" cy="149327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933526" y="4867274"/>
            <a:ext cx="1609684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رزرو آنلاین تعویض روغنی‌ها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1">
            <a:alphaModFix amt="100000"/>
          </a:blip>
          <a:stretch>
            <a:fillRect/>
          </a:stretch>
        </p:blipFill>
        <p:spPr>
          <a:xfrm>
            <a:off x="3657508" y="5230761"/>
            <a:ext cx="171445" cy="149327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952576" y="5200650"/>
            <a:ext cx="159063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سیستم امتیازدهی و نظرات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2">
            <a:alphaModFix amt="100000"/>
          </a:blip>
          <a:stretch>
            <a:fillRect/>
          </a:stretch>
        </p:blipFill>
        <p:spPr>
          <a:xfrm>
            <a:off x="3657508" y="5565672"/>
            <a:ext cx="171445" cy="12720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2276418" y="5524499"/>
            <a:ext cx="1266793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پرداخت درون‌برنامه‌ای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3">
            <a:alphaModFix amt="100000"/>
          </a:blip>
          <a:stretch>
            <a:fillRect/>
          </a:stretch>
        </p:blipFill>
        <p:spPr>
          <a:xfrm>
            <a:off x="3657508" y="5899047"/>
            <a:ext cx="171445" cy="127204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2362140" y="5857875"/>
            <a:ext cx="118107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کمیسیون از خدمات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2000" y="6734175"/>
            <a:ext cx="2866953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هدف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2000" y="7048500"/>
            <a:ext cx="286695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FC3F7"/>
                </a:solidFill>
                <a:latin typeface="Vazirmatn"/>
                <a:rFonts ascii="Vazirmatn" hAnsi="Vazirmatn" eastAsia="Vazirmatn" cs="Vazirmatn"/>
              </a:rPr>
              <a:t>۵۰,۰۰۰+ کاربر، ۱۰۰+ رزرو/ماه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1A2E"/>
            </a:gs>
            <a:gs pos="50000">
              <a:srgbClr val="16213E"/>
            </a:gs>
            <a:gs pos="100000">
              <a:srgbClr val="0F3460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296149"/>
          </a:xfrm>
          <a:prstGeom prst="rect">
            <a:avLst/>
          </a:prstGeom>
          <a:gradFill rotWithShape="1">
            <a:gsLst>
              <a:gs pos="0">
                <a:srgbClr val="1A1A2E">
                  <a:alpha val="90000"/>
                </a:srgbClr>
              </a:gs>
              <a:gs pos="50000">
                <a:srgbClr val="16213E">
                  <a:alpha val="90000"/>
                </a:srgbClr>
              </a:gs>
              <a:gs pos="100000">
                <a:srgbClr val="0F3460">
                  <a:alpha val="90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476249"/>
            <a:ext cx="10858228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239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239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اهداف و معیارهای موفقیت 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182070" y="665107"/>
            <a:ext cx="342891" cy="2128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6733" y="1209674"/>
            <a:ext cx="10858228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435" b="0">
                <a:solidFill>
                  <a:srgbClr val="4FC3F7"/>
                </a:solidFill>
                <a:latin typeface="Vazirmatn"/>
                <a:rFonts ascii="Vazirmatn" hAnsi="Vazirmatn" eastAsia="Vazirmatn" cs="Vazirmatn"/>
              </a:rPr>
              <a:t>KPIs برای ۶ ماه اول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91375" y="1952624"/>
            <a:ext cx="2533586" cy="2428875"/>
          </a:xfrm>
          <a:prstGeom prst="roundRect">
            <a:avLst>
              <a:gd name="adj" fmla="val 12549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934426" y="2265307"/>
            <a:ext cx="342891" cy="2128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772405" y="2209800"/>
            <a:ext cx="1019149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کاربران فعال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019" y="2733674"/>
            <a:ext cx="2038299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913" b="1">
                <a:solidFill>
                  <a:srgbClr val="4FC3F7"/>
                </a:solidFill>
                <a:latin typeface="Vazirmatn"/>
                <a:rFonts ascii="Vazirmatn" hAnsi="Vazirmatn" eastAsia="Vazirmatn" cs="Vazirmatn"/>
              </a:rPr>
              <a:t>۱,۰۰۰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019" y="3305174"/>
            <a:ext cx="203829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کاربر در ۳ ماه اول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019" y="3657600"/>
            <a:ext cx="203829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65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رشد ماهانه: ۱۵-۲۰٪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4" y="1952624"/>
            <a:ext cx="2533586" cy="2428875"/>
          </a:xfrm>
          <a:prstGeom prst="roundRect">
            <a:avLst>
              <a:gd name="adj" fmla="val 12549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62720" y="2212099"/>
            <a:ext cx="342891" cy="31925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67373" y="2209800"/>
            <a:ext cx="942951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نصب PWA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7788" y="2733674"/>
            <a:ext cx="2038299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913" b="1">
                <a:solidFill>
                  <a:srgbClr val="4FC3F7"/>
                </a:solidFill>
                <a:latin typeface="Vazirmatn"/>
                <a:rFonts ascii="Vazirmatn" hAnsi="Vazirmatn" eastAsia="Vazirmatn" cs="Vazirmatn"/>
              </a:rPr>
              <a:t>۲۰٪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7788" y="3305174"/>
            <a:ext cx="203829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کاربران موبایل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7788" y="3657600"/>
            <a:ext cx="203829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65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فاز 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38439" y="1952624"/>
            <a:ext cx="2533586" cy="2428875"/>
          </a:xfrm>
          <a:prstGeom prst="roundRect">
            <a:avLst>
              <a:gd name="adj" fmla="val 12549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391015" y="2212099"/>
            <a:ext cx="342891" cy="31925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228994" y="2209800"/>
            <a:ext cx="1009624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نرخ نگهداری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86082" y="2733674"/>
            <a:ext cx="2038299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913" b="1">
                <a:solidFill>
                  <a:srgbClr val="4FC3F7"/>
                </a:solidFill>
                <a:latin typeface="Vazirmatn"/>
                <a:rFonts ascii="Vazirmatn" hAnsi="Vazirmatn" eastAsia="Vazirmatn" cs="Vazirmatn"/>
              </a:rPr>
              <a:t>۳۰٪+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86082" y="3305174"/>
            <a:ext cx="203829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در ماه اول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6082" y="3657600"/>
            <a:ext cx="2038299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65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روز ۱: ۵۰٪ | روز ۷: ۳۰٪ | روز ۳۰: ۲۰٪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6733" y="1952624"/>
            <a:ext cx="2533586" cy="2428875"/>
          </a:xfrm>
          <a:prstGeom prst="roundRect">
            <a:avLst>
              <a:gd name="adj" fmla="val 12549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2609784" y="2232791"/>
            <a:ext cx="342891" cy="27786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38239" y="2209800"/>
            <a:ext cx="1028674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امتیاز کاربری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377" y="2733674"/>
            <a:ext cx="2038299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913" b="1">
                <a:solidFill>
                  <a:srgbClr val="4FC3F7"/>
                </a:solidFill>
                <a:latin typeface="Vazirmatn"/>
                <a:rFonts ascii="Vazirmatn" hAnsi="Vazirmatn" eastAsia="Vazirmatn" cs="Vazirmatn"/>
              </a:rPr>
              <a:t>۴+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377" y="3305174"/>
            <a:ext cx="203829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از ۵ در نظرسنجی‌ها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6733" y="4667249"/>
            <a:ext cx="10858228" cy="2152650"/>
          </a:xfrm>
          <a:prstGeom prst="roundRect">
            <a:avLst>
              <a:gd name="adj" fmla="val 14159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377" y="4914900"/>
            <a:ext cx="10362940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عملکرد فنی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1010624" y="4992135"/>
            <a:ext cx="266693" cy="188429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7953176" y="5438774"/>
            <a:ext cx="3324141" cy="1133475"/>
          </a:xfrm>
          <a:prstGeom prst="roundRect">
            <a:avLst>
              <a:gd name="adj" fmla="val 2016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62820" y="5629275"/>
            <a:ext cx="895327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674" b="1">
                <a:solidFill>
                  <a:srgbClr val="4CAF50"/>
                </a:solidFill>
                <a:latin typeface="Vazirmatn"/>
                <a:rFonts ascii="Vazirmatn" hAnsi="Vazirmatn" eastAsia="Vazirmatn" cs="Vazirmatn"/>
              </a:rPr>
              <a:t>&lt; ۲ ثانیه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29494" y="6143625"/>
            <a:ext cx="77150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زمان بارگذاری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29014" y="5438774"/>
            <a:ext cx="3324141" cy="1133475"/>
          </a:xfrm>
          <a:prstGeom prst="roundRect">
            <a:avLst>
              <a:gd name="adj" fmla="val 2016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67253" y="5629275"/>
            <a:ext cx="457188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674" b="1">
                <a:solidFill>
                  <a:srgbClr val="4CAF50"/>
                </a:solidFill>
                <a:latin typeface="Vazirmatn"/>
                <a:rFonts ascii="Vazirmatn" hAnsi="Vazirmatn" eastAsia="Vazirmatn" cs="Vazirmatn"/>
              </a:rPr>
              <a:t>&gt; ۹۰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05312" y="6143625"/>
            <a:ext cx="1181070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Lighthouse Score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377" y="5438774"/>
            <a:ext cx="3324141" cy="1133475"/>
          </a:xfrm>
          <a:prstGeom prst="roundRect">
            <a:avLst>
              <a:gd name="adj" fmla="val 2016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62140" y="5629275"/>
            <a:ext cx="428614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674" b="1">
                <a:solidFill>
                  <a:srgbClr val="4CAF50"/>
                </a:solidFill>
                <a:latin typeface="Vazirmatn"/>
                <a:rFonts ascii="Vazirmatn" hAnsi="Vazirmatn" eastAsia="Vazirmatn" cs="Vazirmatn"/>
              </a:rPr>
              <a:t>&lt; ۱٪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3566" y="6143625"/>
            <a:ext cx="48576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نرخ خطا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1A2E"/>
            </a:gs>
            <a:gs pos="50000">
              <a:srgbClr val="16213E"/>
            </a:gs>
            <a:gs pos="100000">
              <a:srgbClr val="0F3460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372725"/>
          </a:xfrm>
          <a:prstGeom prst="rect">
            <a:avLst/>
          </a:prstGeom>
          <a:gradFill rotWithShape="1">
            <a:gsLst>
              <a:gs pos="0">
                <a:srgbClr val="1A1A2E">
                  <a:alpha val="90000"/>
                </a:srgbClr>
              </a:gs>
              <a:gs pos="50000">
                <a:srgbClr val="16213E">
                  <a:alpha val="90000"/>
                </a:srgbClr>
              </a:gs>
              <a:gs pos="100000">
                <a:srgbClr val="0F3460">
                  <a:alpha val="90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476249"/>
            <a:ext cx="10858228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239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239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همراه ما باشید 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182070" y="638503"/>
            <a:ext cx="342891" cy="2660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6733" y="1209674"/>
            <a:ext cx="10858228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435" b="0">
                <a:solidFill>
                  <a:srgbClr val="4FC3F7"/>
                </a:solidFill>
                <a:latin typeface="Vazirmatn"/>
                <a:rFonts ascii="Vazirmatn" hAnsi="Vazirmatn" eastAsia="Vazirmatn" cs="Vazirmatn"/>
              </a:rPr>
              <a:t>سرمایه‌گذاری در آینده مدیریت خودرو در ایران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81470" y="1952624"/>
            <a:ext cx="6343491" cy="3657600"/>
          </a:xfrm>
          <a:prstGeom prst="roundRect">
            <a:avLst>
              <a:gd name="adj" fmla="val 8333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29114" y="2200275"/>
            <a:ext cx="5848203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کجا هستیم؟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048723" y="2265045"/>
            <a:ext cx="228594" cy="194309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086822" y="2776257"/>
            <a:ext cx="190495" cy="1624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410464" y="2724150"/>
            <a:ext cx="153348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طراحی محصول: تکمیل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086822" y="3185832"/>
            <a:ext cx="190495" cy="1624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743831" y="3133724"/>
            <a:ext cx="12001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تحلیل رقبا: تکمیل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086822" y="359540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448563" y="3543300"/>
            <a:ext cx="149538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برنامه‌ریزی فنی: تکمیل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1086822" y="3996577"/>
            <a:ext cx="190495" cy="17929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34246" y="3952874"/>
            <a:ext cx="180970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توسعه MVP: در حال انجام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81470" y="5848350"/>
            <a:ext cx="6343491" cy="3248024"/>
          </a:xfrm>
          <a:prstGeom prst="roundRect">
            <a:avLst>
              <a:gd name="adj" fmla="val 9384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1048723" y="6178867"/>
            <a:ext cx="228594" cy="177164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1086822" y="6652932"/>
            <a:ext cx="190495" cy="1624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400939" y="6619875"/>
            <a:ext cx="154301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مبلغ: [X میلیون تومان]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1086822" y="7070911"/>
            <a:ext cx="190495" cy="14567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838879" y="7029450"/>
            <a:ext cx="31050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هدف: تکمیل MVP + راه‌اندازی + بازاریابی اولیه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1086822" y="7472082"/>
            <a:ext cx="190495" cy="162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210544" y="7439024"/>
            <a:ext cx="73340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زمان: ۶ ماه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6733" y="1952624"/>
            <a:ext cx="4228994" cy="4391025"/>
          </a:xfrm>
          <a:prstGeom prst="roundRect">
            <a:avLst>
              <a:gd name="adj" fmla="val 7207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2666933" y="2498407"/>
            <a:ext cx="228594" cy="16573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14377" y="3152775"/>
            <a:ext cx="3733706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فرصت سرمایه‌گذاری 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4419489" y="3251834"/>
            <a:ext cx="228594" cy="125729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4457588" y="3709707"/>
            <a:ext cx="190495" cy="1624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619409" y="3676649"/>
            <a:ext cx="69530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سهام [X]٪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4457588" y="4147297"/>
            <a:ext cx="190495" cy="10645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762080" y="4086225"/>
            <a:ext cx="255263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بازگشت سرمایه پیش‌بینی‌شده: [X] ماه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4457588" y="4556872"/>
            <a:ext cx="190495" cy="10645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0695" y="4495799"/>
            <a:ext cx="212402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حضور در تیم مشاوران (اختیاری)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09744" y="4952999"/>
            <a:ext cx="1142971" cy="1143000"/>
          </a:xfrm>
          <a:prstGeom prst="roundRect">
            <a:avLst>
              <a:gd name="adj" fmla="val 16666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2666933" y="5435917"/>
            <a:ext cx="228594" cy="177164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666733" y="6581774"/>
            <a:ext cx="4228994" cy="2514600"/>
          </a:xfrm>
          <a:prstGeom prst="roundRect">
            <a:avLst>
              <a:gd name="adj" fmla="val 12121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4419489" y="6894195"/>
            <a:ext cx="228594" cy="194309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4457588" y="7416613"/>
            <a:ext cx="190495" cy="140073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743031" y="7353299"/>
            <a:ext cx="25716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ایمیل: [your-email@example.com]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4457588" y="7820585"/>
            <a:ext cx="190495" cy="15127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2962200" y="7762874"/>
            <a:ext cx="135251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تلفن: [شماره تماس]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9">
            <a:alphaModFix amt="100000"/>
          </a:blip>
          <a:stretch>
            <a:fillRect/>
          </a:stretch>
        </p:blipFill>
        <p:spPr>
          <a:xfrm>
            <a:off x="4457588" y="8224557"/>
            <a:ext cx="190495" cy="16248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2476438" y="8172450"/>
            <a:ext cx="18382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وب‌سایت: [آدرس وب‌سایت]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0">
            <a:alphaModFix amt="100000"/>
          </a:blip>
          <a:stretch>
            <a:fillRect/>
          </a:stretch>
        </p:blipFill>
        <p:spPr>
          <a:xfrm>
            <a:off x="4457588" y="8636933"/>
            <a:ext cx="190495" cy="156882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2524061" y="8582025"/>
            <a:ext cx="179065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لینکدین: [پروفایل لینکدین]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76678" y="9382125"/>
            <a:ext cx="2428814" cy="514350"/>
          </a:xfrm>
          <a:prstGeom prst="roundRect">
            <a:avLst>
              <a:gd name="adj" fmla="val 185185"/>
            </a:avLst>
          </a:prstGeom>
          <a:gradFill rotWithShape="1">
            <a:gsLst>
              <a:gs pos="0">
                <a:srgbClr val="FF9800"/>
              </a:gs>
              <a:gs pos="100000">
                <a:srgbClr val="FF6D00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