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28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3.png"/><Relationship Id="rId12" Type="http://schemas.openxmlformats.org/officeDocument/2006/relationships/image" Target="../media/image56.png"/><Relationship Id="rId13" Type="http://schemas.openxmlformats.org/officeDocument/2006/relationships/image" Target="../media/image57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60.png"/><Relationship Id="rId17" Type="http://schemas.openxmlformats.org/officeDocument/2006/relationships/image" Target="../media/image6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8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Relationship Id="rId14" Type="http://schemas.openxmlformats.org/officeDocument/2006/relationships/image" Target="../media/image70.png"/><Relationship Id="rId15" Type="http://schemas.openxmlformats.org/officeDocument/2006/relationships/image" Target="../media/image71.png"/><Relationship Id="rId16" Type="http://schemas.openxmlformats.org/officeDocument/2006/relationships/image" Target="../media/image72.png"/><Relationship Id="rId17" Type="http://schemas.openxmlformats.org/officeDocument/2006/relationships/image" Target="../media/image73.png"/><Relationship Id="rId18" Type="http://schemas.openxmlformats.org/officeDocument/2006/relationships/image" Target="../media/image74.png"/><Relationship Id="rId19" Type="http://schemas.openxmlformats.org/officeDocument/2006/relationships/image" Target="../media/image75.png"/><Relationship Id="rId20" Type="http://schemas.openxmlformats.org/officeDocument/2006/relationships/image" Target="../media/image54.png"/><Relationship Id="rId21" Type="http://schemas.openxmlformats.org/officeDocument/2006/relationships/image" Target="../media/image76.png"/><Relationship Id="rId22" Type="http://schemas.openxmlformats.org/officeDocument/2006/relationships/image" Target="../media/image77.png"/><Relationship Id="rId23" Type="http://schemas.openxmlformats.org/officeDocument/2006/relationships/image" Target="../media/image78.png"/><Relationship Id="rId24" Type="http://schemas.openxmlformats.org/officeDocument/2006/relationships/image" Target="../media/image79.png"/><Relationship Id="rId25" Type="http://schemas.openxmlformats.org/officeDocument/2006/relationships/image" Target="../media/image80.png"/><Relationship Id="rId26" Type="http://schemas.openxmlformats.org/officeDocument/2006/relationships/image" Target="../media/image8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1.png"/><Relationship Id="rId4" Type="http://schemas.openxmlformats.org/officeDocument/2006/relationships/image" Target="../media/image83.png"/><Relationship Id="rId5" Type="http://schemas.openxmlformats.org/officeDocument/2006/relationships/image" Target="../media/image72.png"/><Relationship Id="rId6" Type="http://schemas.openxmlformats.org/officeDocument/2006/relationships/image" Target="../media/image75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54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png"/><Relationship Id="rId15" Type="http://schemas.openxmlformats.org/officeDocument/2006/relationships/image" Target="../media/image91.png"/><Relationship Id="rId16" Type="http://schemas.openxmlformats.org/officeDocument/2006/relationships/image" Target="../media/image92.png"/><Relationship Id="rId17" Type="http://schemas.openxmlformats.org/officeDocument/2006/relationships/image" Target="../media/image93.png"/><Relationship Id="rId18" Type="http://schemas.openxmlformats.org/officeDocument/2006/relationships/image" Target="../media/image94.png"/><Relationship Id="rId19" Type="http://schemas.openxmlformats.org/officeDocument/2006/relationships/image" Target="../media/image66.png"/><Relationship Id="rId20" Type="http://schemas.openxmlformats.org/officeDocument/2006/relationships/image" Target="../media/image58.png"/><Relationship Id="rId21" Type="http://schemas.openxmlformats.org/officeDocument/2006/relationships/image" Target="../media/image59.png"/><Relationship Id="rId22" Type="http://schemas.openxmlformats.org/officeDocument/2006/relationships/image" Target="../media/image60.png"/><Relationship Id="rId23" Type="http://schemas.openxmlformats.org/officeDocument/2006/relationships/image" Target="../media/image9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66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101.png"/><Relationship Id="rId11" Type="http://schemas.openxmlformats.org/officeDocument/2006/relationships/image" Target="../media/image61.png"/><Relationship Id="rId12" Type="http://schemas.openxmlformats.org/officeDocument/2006/relationships/image" Target="../media/image102.png"/><Relationship Id="rId13" Type="http://schemas.openxmlformats.org/officeDocument/2006/relationships/image" Target="../media/image103.png"/><Relationship Id="rId14" Type="http://schemas.openxmlformats.org/officeDocument/2006/relationships/image" Target="../media/image104.png"/><Relationship Id="rId15" Type="http://schemas.openxmlformats.org/officeDocument/2006/relationships/image" Target="../media/image105.png"/><Relationship Id="rId16" Type="http://schemas.openxmlformats.org/officeDocument/2006/relationships/image" Target="../media/image106.png"/><Relationship Id="rId17" Type="http://schemas.openxmlformats.org/officeDocument/2006/relationships/image" Target="../media/image107.png"/><Relationship Id="rId18" Type="http://schemas.openxmlformats.org/officeDocument/2006/relationships/image" Target="../media/image108.png"/><Relationship Id="rId19" Type="http://schemas.openxmlformats.org/officeDocument/2006/relationships/image" Target="../media/image109.png"/><Relationship Id="rId20" Type="http://schemas.openxmlformats.org/officeDocument/2006/relationships/image" Target="../media/image110.png"/><Relationship Id="rId21" Type="http://schemas.openxmlformats.org/officeDocument/2006/relationships/image" Target="../media/image111.png"/><Relationship Id="rId22" Type="http://schemas.openxmlformats.org/officeDocument/2006/relationships/image" Target="../media/image112.png"/><Relationship Id="rId23" Type="http://schemas.openxmlformats.org/officeDocument/2006/relationships/image" Target="../media/image113.png"/><Relationship Id="rId24" Type="http://schemas.openxmlformats.org/officeDocument/2006/relationships/image" Target="../media/image114.png"/><Relationship Id="rId25" Type="http://schemas.openxmlformats.org/officeDocument/2006/relationships/image" Target="../media/image115.png"/><Relationship Id="rId26" Type="http://schemas.openxmlformats.org/officeDocument/2006/relationships/image" Target="../media/image60.png"/><Relationship Id="rId27" Type="http://schemas.openxmlformats.org/officeDocument/2006/relationships/image" Target="../media/image116.png"/><Relationship Id="rId28" Type="http://schemas.openxmlformats.org/officeDocument/2006/relationships/image" Target="../media/image117.png"/><Relationship Id="rId29" Type="http://schemas.openxmlformats.org/officeDocument/2006/relationships/image" Target="../media/image118.png"/><Relationship Id="rId30" Type="http://schemas.openxmlformats.org/officeDocument/2006/relationships/image" Target="../media/image51.png"/><Relationship Id="rId31" Type="http://schemas.openxmlformats.org/officeDocument/2006/relationships/image" Target="../media/image48.png"/><Relationship Id="rId32" Type="http://schemas.openxmlformats.org/officeDocument/2006/relationships/image" Target="../media/image52.png"/><Relationship Id="rId33" Type="http://schemas.openxmlformats.org/officeDocument/2006/relationships/image" Target="../media/image1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Relationship Id="rId4" Type="http://schemas.openxmlformats.org/officeDocument/2006/relationships/image" Target="../media/image122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Relationship Id="rId7" Type="http://schemas.openxmlformats.org/officeDocument/2006/relationships/image" Target="../media/image125.png"/><Relationship Id="rId8" Type="http://schemas.openxmlformats.org/officeDocument/2006/relationships/image" Target="../media/image126.png"/><Relationship Id="rId9" Type="http://schemas.openxmlformats.org/officeDocument/2006/relationships/image" Target="../media/image127.png"/><Relationship Id="rId10" Type="http://schemas.openxmlformats.org/officeDocument/2006/relationships/image" Target="../media/image128.png"/><Relationship Id="rId11" Type="http://schemas.openxmlformats.org/officeDocument/2006/relationships/image" Target="../media/image129.png"/><Relationship Id="rId12" Type="http://schemas.openxmlformats.org/officeDocument/2006/relationships/image" Target="../media/image130.png"/><Relationship Id="rId13" Type="http://schemas.openxmlformats.org/officeDocument/2006/relationships/image" Target="../media/image131.png"/><Relationship Id="rId14" Type="http://schemas.openxmlformats.org/officeDocument/2006/relationships/image" Target="../media/image132.png"/><Relationship Id="rId15" Type="http://schemas.openxmlformats.org/officeDocument/2006/relationships/image" Target="../media/image133.png"/><Relationship Id="rId16" Type="http://schemas.openxmlformats.org/officeDocument/2006/relationships/image" Target="../media/image134.png"/><Relationship Id="rId17" Type="http://schemas.openxmlformats.org/officeDocument/2006/relationships/image" Target="../media/image135.png"/><Relationship Id="rId18" Type="http://schemas.openxmlformats.org/officeDocument/2006/relationships/image" Target="../media/image136.png"/><Relationship Id="rId19" Type="http://schemas.openxmlformats.org/officeDocument/2006/relationships/image" Target="../media/image1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png"/><Relationship Id="rId3" Type="http://schemas.openxmlformats.org/officeDocument/2006/relationships/image" Target="../media/image82.png"/><Relationship Id="rId4" Type="http://schemas.openxmlformats.org/officeDocument/2006/relationships/image" Target="../media/image89.png"/><Relationship Id="rId5" Type="http://schemas.openxmlformats.org/officeDocument/2006/relationships/image" Target="../media/image87.png"/><Relationship Id="rId6" Type="http://schemas.openxmlformats.org/officeDocument/2006/relationships/image" Target="../media/image96.png"/><Relationship Id="rId7" Type="http://schemas.openxmlformats.org/officeDocument/2006/relationships/image" Target="../media/image139.png"/><Relationship Id="rId8" Type="http://schemas.openxmlformats.org/officeDocument/2006/relationships/image" Target="../media/image140.png"/><Relationship Id="rId9" Type="http://schemas.openxmlformats.org/officeDocument/2006/relationships/image" Target="../media/image141.png"/><Relationship Id="rId10" Type="http://schemas.openxmlformats.org/officeDocument/2006/relationships/image" Target="../media/image142.png"/><Relationship Id="rId11" Type="http://schemas.openxmlformats.org/officeDocument/2006/relationships/image" Target="../media/image143.png"/><Relationship Id="rId12" Type="http://schemas.openxmlformats.org/officeDocument/2006/relationships/image" Target="../media/image144.png"/><Relationship Id="rId13" Type="http://schemas.openxmlformats.org/officeDocument/2006/relationships/image" Target="../media/image145.png"/><Relationship Id="rId14" Type="http://schemas.openxmlformats.org/officeDocument/2006/relationships/image" Target="../media/image6.png"/><Relationship Id="rId15" Type="http://schemas.openxmlformats.org/officeDocument/2006/relationships/image" Target="../media/image146.png"/><Relationship Id="rId16" Type="http://schemas.openxmlformats.org/officeDocument/2006/relationships/image" Target="../media/image14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3A5F"/>
            </a:gs>
            <a:gs pos="100000">
              <a:srgbClr val="134E4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43351" y="1523999"/>
            <a:ext cx="2304992" cy="952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3827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خودروبان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38519" y="2667000"/>
            <a:ext cx="3705132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950"/>
              </a:spcAft>
            </a:pPr>
            <a:r>
              <a:rPr sz="1913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معرفی کامل محصول و امکانات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5172" y="3429000"/>
            <a:ext cx="399087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90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دفترچه دیجیتال هوشمند برای مدیریت نگهداری خودرو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62740" y="4495799"/>
            <a:ext cx="1523961" cy="828675"/>
          </a:xfrm>
          <a:prstGeom prst="roundRect">
            <a:avLst>
              <a:gd name="adj" fmla="val 3678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0384" y="4648200"/>
            <a:ext cx="102867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نوع ارائه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384" y="4914900"/>
            <a:ext cx="10286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EA5E9"/>
                </a:solidFill>
                <a:latin typeface="Vazirmatn"/>
                <a:rFonts ascii="Vazirmatn" hAnsi="Vazirmatn" eastAsia="Vazirmatn" cs="Vazirmatn"/>
              </a:rPr>
              <a:t>Product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559" y="4495799"/>
            <a:ext cx="2485962" cy="828675"/>
          </a:xfrm>
          <a:prstGeom prst="roundRect">
            <a:avLst>
              <a:gd name="adj" fmla="val 3678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48203" y="4648200"/>
            <a:ext cx="199067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مخاطب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8203" y="4914900"/>
            <a:ext cx="19906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EA5E9"/>
                </a:solidFill>
                <a:latin typeface="Vazirmatn"/>
                <a:rFonts ascii="Vazirmatn" hAnsi="Vazirmatn" eastAsia="Vazirmatn" cs="Vazirmatn"/>
              </a:rPr>
              <a:t>تیم فنی | شرکا | سرمایه‌گذاران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1825" y="4495799"/>
            <a:ext cx="1342991" cy="828675"/>
          </a:xfrm>
          <a:prstGeom prst="roundRect">
            <a:avLst>
              <a:gd name="adj" fmla="val 3678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9469" y="4648200"/>
            <a:ext cx="84770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زمان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9469" y="4914900"/>
            <a:ext cx="8477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EA5E9"/>
                </a:solidFill>
                <a:latin typeface="Vazirmatn"/>
                <a:rFonts ascii="Vazirmatn" hAnsi="Vazirmatn" eastAsia="Vazirmatn" cs="Vazirmatn"/>
              </a:rPr>
              <a:t>۱۵-۲۰ دقیقه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95467" y="4495799"/>
            <a:ext cx="1381090" cy="828675"/>
          </a:xfrm>
          <a:prstGeom prst="roundRect">
            <a:avLst>
              <a:gd name="adj" fmla="val 3678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3111" y="4648200"/>
            <a:ext cx="88580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تاریخ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3111" y="4914900"/>
            <a:ext cx="8858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EA5E9"/>
                </a:solidFill>
                <a:latin typeface="Vazirmatn"/>
                <a:rFonts ascii="Vazirmatn" hAnsi="Vazirmatn" eastAsia="Vazirmatn" cs="Vazirmatn"/>
              </a:rPr>
              <a:t>دسامبر ۲۰۲۵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8419" y="2867025"/>
            <a:ext cx="5714857" cy="446722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3A5F"/>
            </a:gs>
            <a:gs pos="100000">
              <a:srgbClr val="134E4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🎯 اهداف پروژه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06679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مسیر رشد از MVP تا پلتفرم خدماتی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7473" y="1781174"/>
            <a:ext cx="3457488" cy="4695824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010624" y="2252662"/>
            <a:ext cx="266693" cy="200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0464" y="2028825"/>
            <a:ext cx="1457288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هدف کوتاه‌مدت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0464" y="2438400"/>
            <a:ext cx="145728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۳-۶ ماه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5117" y="2867025"/>
            <a:ext cx="2962200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طراحی و توسعه MVP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24921" y="2916010"/>
            <a:ext cx="152396" cy="1306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15117" y="3248024"/>
            <a:ext cx="2962200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راه‌اندازی نسخه بتا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24921" y="3297010"/>
            <a:ext cx="152396" cy="1306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15117" y="3629025"/>
            <a:ext cx="2962200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جمع‌آوری بازخورد اولیه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24921" y="3678010"/>
            <a:ext cx="152396" cy="1306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15117" y="4010024"/>
            <a:ext cx="2962200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راه‌اندازی وب‌اپلیکیشن واکنش‌گرا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24921" y="4059010"/>
            <a:ext cx="152396" cy="13062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315117" y="4638674"/>
            <a:ext cx="2962200" cy="1590675"/>
          </a:xfrm>
          <a:prstGeom prst="roundRect">
            <a:avLst>
              <a:gd name="adj" fmla="val 14371"/>
            </a:avLst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7988" y="4781549"/>
            <a:ext cx="26764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معیار موفقیت: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7988" y="5143500"/>
            <a:ext cx="2676458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۱,۰۰۰ کاربر فعال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05852" y="5154930"/>
            <a:ext cx="228594" cy="2057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57988" y="5457825"/>
            <a:ext cx="2676458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امتیاز ۴+ از ۵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05852" y="5478780"/>
            <a:ext cx="228594" cy="205739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05852" y="5783580"/>
            <a:ext cx="228594" cy="205739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362340" y="1781174"/>
            <a:ext cx="3457488" cy="4695824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315017" y="2280202"/>
            <a:ext cx="266693" cy="14494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43431" y="2028825"/>
            <a:ext cx="1428714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هدف میان‌مدت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3431" y="2438400"/>
            <a:ext cx="1428714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۶-۱۲ ماه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9984" y="2867025"/>
            <a:ext cx="2962200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رسیدن به ۱۰,۰۰۰ کاربر فعال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4" y="2916010"/>
            <a:ext cx="152396" cy="1306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09984" y="3248024"/>
            <a:ext cx="2962200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امتیاز بالای ۴.۲ در نظرسنجی‌ها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4" y="3297010"/>
            <a:ext cx="152396" cy="1306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609984" y="3629025"/>
            <a:ext cx="2962200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افزایش نرخ نگهداری به بالای ۴۰٪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4" y="3678010"/>
            <a:ext cx="152396" cy="1306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609984" y="4010024"/>
            <a:ext cx="2962200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تبدیل به Progressive Web App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4" y="4059010"/>
            <a:ext cx="152396" cy="130628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4609984" y="4638674"/>
            <a:ext cx="2962200" cy="1590675"/>
          </a:xfrm>
          <a:prstGeom prst="roundRect">
            <a:avLst>
              <a:gd name="adj" fmla="val 14371"/>
            </a:avLst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2856" y="4781549"/>
            <a:ext cx="26764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معیار موفقیت: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2856" y="5143500"/>
            <a:ext cx="2676458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۱۰,۰۰۰ کاربر فعال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210244" y="5154930"/>
            <a:ext cx="228594" cy="20573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752856" y="5457825"/>
            <a:ext cx="2676458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نصب PWA روی ۲۰% دستگاه‌ها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210244" y="5478780"/>
            <a:ext cx="228594" cy="205739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210244" y="5783580"/>
            <a:ext cx="228594" cy="205739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666733" y="1781174"/>
            <a:ext cx="3457488" cy="4695824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609884" y="2241066"/>
            <a:ext cx="266693" cy="22321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133546" y="2028825"/>
            <a:ext cx="1342991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هدف بلندمدت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33546" y="2438400"/>
            <a:ext cx="134299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۱-۲ سال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377" y="2867025"/>
            <a:ext cx="2962200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یکی از ۳ وب‌اپلیکیشن برتر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724181" y="2916010"/>
            <a:ext cx="152396" cy="13062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4377" y="3248024"/>
            <a:ext cx="2962200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رسیدن به ۱۰۰,۰۰۰+ کاربر فعال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724181" y="3297010"/>
            <a:ext cx="152396" cy="13062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14377" y="3629025"/>
            <a:ext cx="2962200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ایجاد مدل درآمدی پایدار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724181" y="3678010"/>
            <a:ext cx="152396" cy="13062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14377" y="4010024"/>
            <a:ext cx="2962200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گسترش به پلتفرم ارائه خدمات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724181" y="4059010"/>
            <a:ext cx="152396" cy="130628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914377" y="4638674"/>
            <a:ext cx="2962200" cy="1590675"/>
          </a:xfrm>
          <a:prstGeom prst="roundRect">
            <a:avLst>
              <a:gd name="adj" fmla="val 14371"/>
            </a:avLst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7248" y="4781549"/>
            <a:ext cx="26764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معیار موفقیت: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7248" y="5143500"/>
            <a:ext cx="2676458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۱۰۰,۰۰۰+ کاربر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505112" y="5154930"/>
            <a:ext cx="228594" cy="20573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57248" y="5457825"/>
            <a:ext cx="2676458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۱۰۰+ رزرو/ماه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505112" y="5478780"/>
            <a:ext cx="228594" cy="205739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505112" y="5783580"/>
            <a:ext cx="228594" cy="2057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3A5F"/>
            </a:gs>
            <a:gs pos="100000">
              <a:srgbClr val="134E4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📐 محدوده پروژه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06679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چه چیزی می‌سازیم و چه چیزی نمی‌سازیم (فعلاً)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38719" y="1685925"/>
            <a:ext cx="5286242" cy="7734299"/>
          </a:xfrm>
          <a:prstGeom prst="roundRect">
            <a:avLst>
              <a:gd name="adj" fmla="val 576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010624" y="2144367"/>
            <a:ext cx="266693" cy="2261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91435" y="1933574"/>
            <a:ext cx="1276318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داخل محدوده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91435" y="2343150"/>
            <a:ext cx="127631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362" y="2771775"/>
            <a:ext cx="47909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مدیریت خودرو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86822" y="2836488"/>
            <a:ext cx="190495" cy="137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86362" y="3152775"/>
            <a:ext cx="4790955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اطلاعات خودرو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24921" y="3219449"/>
            <a:ext cx="152396" cy="952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86362" y="3495675"/>
            <a:ext cx="4790955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و به‌روزرسانی کیلومتر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24921" y="3562349"/>
            <a:ext cx="152396" cy="952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86362" y="3838574"/>
            <a:ext cx="4790955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پشتیبانی از چند خودرو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24921" y="3905249"/>
            <a:ext cx="152396" cy="952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86362" y="4371975"/>
            <a:ext cx="47909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سرویس و نگهداری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086822" y="4414277"/>
            <a:ext cx="190495" cy="1820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86362" y="4752974"/>
            <a:ext cx="4790955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سوابق سرویس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24921" y="4819650"/>
            <a:ext cx="152396" cy="952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86362" y="5095874"/>
            <a:ext cx="4790955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یادآوری دو معیاری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24921" y="5162550"/>
            <a:ext cx="152396" cy="9524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86362" y="5438774"/>
            <a:ext cx="4790955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وضعیت نزدیک و گذشته موعد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24921" y="5505450"/>
            <a:ext cx="152396" cy="95249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086822" y="6029885"/>
            <a:ext cx="190495" cy="151279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24921" y="6419850"/>
            <a:ext cx="152396" cy="95249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24921" y="6762750"/>
            <a:ext cx="152396" cy="95249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24921" y="7105650"/>
            <a:ext cx="152396" cy="95249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086822" y="7635688"/>
            <a:ext cx="190495" cy="140073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24921" y="8020049"/>
            <a:ext cx="152396" cy="95249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24921" y="8362949"/>
            <a:ext cx="152396" cy="95249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24921" y="8705849"/>
            <a:ext cx="152396" cy="95249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66733" y="1685925"/>
            <a:ext cx="5286242" cy="7734299"/>
          </a:xfrm>
          <a:prstGeom prst="roundRect">
            <a:avLst>
              <a:gd name="adj" fmla="val 576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438639" y="2144367"/>
            <a:ext cx="266693" cy="22611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848003" y="1933574"/>
            <a:ext cx="1447763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خارج از محدوده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8003" y="2343150"/>
            <a:ext cx="144776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فازهای بعدی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377" y="2771775"/>
            <a:ext cx="47909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فاز ۲ (۶-۱۲ ماه)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514837" y="2823882"/>
            <a:ext cx="190495" cy="1624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14377" y="3152775"/>
            <a:ext cx="4790955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تبدیل به PWA + قابلیت نصب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552936" y="3250746"/>
            <a:ext cx="152396" cy="3265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14377" y="3495675"/>
            <a:ext cx="4790955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کار آفلاین (Offline-first)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552936" y="3593646"/>
            <a:ext cx="152396" cy="3265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14377" y="3838574"/>
            <a:ext cx="4790955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Push Notifications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552936" y="3936546"/>
            <a:ext cx="152396" cy="3265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14377" y="4181474"/>
            <a:ext cx="4790955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گزارش‌گیری پیشرفته و نمودارها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552936" y="4279446"/>
            <a:ext cx="152396" cy="3265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14377" y="4524374"/>
            <a:ext cx="4790955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پشتیبانی از چند کاربر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552936" y="4622346"/>
            <a:ext cx="152396" cy="3265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4377" y="5057775"/>
            <a:ext cx="47909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فاز ۳ (۱۲+ ماه)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514837" y="5101477"/>
            <a:ext cx="190495" cy="17929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14377" y="5438774"/>
            <a:ext cx="4790955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اتصال به تعویض روغنی‌ها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552936" y="5536746"/>
            <a:ext cx="152396" cy="32657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552936" y="5879646"/>
            <a:ext cx="152396" cy="32657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552936" y="6222546"/>
            <a:ext cx="152396" cy="32657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552936" y="6565446"/>
            <a:ext cx="152396" cy="32657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552936" y="6908346"/>
            <a:ext cx="152396" cy="326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3A5F"/>
            </a:gs>
            <a:gs pos="100000">
              <a:srgbClr val="134E4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🎨 چرا خودروبان متفاوت است؟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06679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۶ دلیل که ما را از رقبا متمایز می‌کند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29374" y="1685925"/>
            <a:ext cx="3495587" cy="2562224"/>
          </a:xfrm>
          <a:prstGeom prst="roundRect">
            <a:avLst>
              <a:gd name="adj" fmla="val 1189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904193" y="1924049"/>
            <a:ext cx="1241336" cy="2666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7988" y="1885950"/>
            <a:ext cx="1123921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سادگی واقعی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394" y="2409825"/>
            <a:ext cx="309554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بدون پیچیدگی‌های غیرضروری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72545" y="2458810"/>
            <a:ext cx="152396" cy="1306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394" y="2752725"/>
            <a:ext cx="309554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فقط ۳ کلیک تا ثبت سرویس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72545" y="2801710"/>
            <a:ext cx="152396" cy="1306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394" y="3095625"/>
            <a:ext cx="309554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رابط کاربری بصری و جذاب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72545" y="3144610"/>
            <a:ext cx="152396" cy="1306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394" y="3438525"/>
            <a:ext cx="309554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تمرکز روی نیاز اصلی کاربر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72545" y="3487510"/>
            <a:ext cx="152396" cy="13062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352816" y="1685925"/>
            <a:ext cx="3495587" cy="2562224"/>
          </a:xfrm>
          <a:prstGeom prst="roundRect">
            <a:avLst>
              <a:gd name="adj" fmla="val 1189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372165" y="1953039"/>
            <a:ext cx="266693" cy="20872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57728" y="1885950"/>
            <a:ext cx="1371565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یادآوری هوشمند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2836" y="2409825"/>
            <a:ext cx="309554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یادآوری دو معیاری (زمان + کیلومتر)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86462" y="2458810"/>
            <a:ext cx="152396" cy="1306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52836" y="2752725"/>
            <a:ext cx="309554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پیش‌بینی زمان سرویس بعدی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86462" y="2801710"/>
            <a:ext cx="152396" cy="1306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52836" y="3095625"/>
            <a:ext cx="3095547" cy="5333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وضعیت «نزدیک موعد» و «گذشته از موعد»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86462" y="3144610"/>
            <a:ext cx="152396" cy="1306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52836" y="3705224"/>
            <a:ext cx="309554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یادآوری قابل تنظیم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86462" y="3754210"/>
            <a:ext cx="152396" cy="13062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66733" y="1685925"/>
            <a:ext cx="3495587" cy="2562224"/>
          </a:xfrm>
          <a:prstGeom prst="roundRect">
            <a:avLst>
              <a:gd name="adj" fmla="val 1189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695607" y="1957387"/>
            <a:ext cx="266693" cy="2000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114497" y="1885950"/>
            <a:ext cx="1438239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فارسی‌سازی کامل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753" y="2409825"/>
            <a:ext cx="309554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طراحی کامل راست‌به‌چپ (RTL)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809904" y="2458810"/>
            <a:ext cx="152396" cy="1306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6753" y="2752725"/>
            <a:ext cx="309554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تقویم شمسی یکپارچه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809904" y="2801710"/>
            <a:ext cx="152396" cy="1306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66753" y="3095625"/>
            <a:ext cx="309554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واحد تومان و کیلومتر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809904" y="3144610"/>
            <a:ext cx="152396" cy="1306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6753" y="3438525"/>
            <a:ext cx="309554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سرویس‌های رایج ایران پیش‌فرض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809904" y="3487510"/>
            <a:ext cx="152396" cy="130628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029374" y="4438649"/>
            <a:ext cx="3495587" cy="2562224"/>
          </a:xfrm>
          <a:prstGeom prst="roundRect">
            <a:avLst>
              <a:gd name="adj" fmla="val 1189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058248" y="4687542"/>
            <a:ext cx="266693" cy="22611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820029" y="4638674"/>
            <a:ext cx="1095347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مدل فریمیوم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394" y="5162550"/>
            <a:ext cx="309554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رایگان: ۱ خودرو + یادآوری پایه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72545" y="5211535"/>
            <a:ext cx="152396" cy="13062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229394" y="5505450"/>
            <a:ext cx="309554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Pro: چند خودرو + بکاپ ابری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72545" y="5554435"/>
            <a:ext cx="152396" cy="130628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72545" y="5897335"/>
            <a:ext cx="152396" cy="130628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72545" y="6240235"/>
            <a:ext cx="152396" cy="130628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4352816" y="4438649"/>
            <a:ext cx="3495587" cy="2562224"/>
          </a:xfrm>
          <a:prstGeom prst="roundRect">
            <a:avLst>
              <a:gd name="adj" fmla="val 1189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372165" y="4675946"/>
            <a:ext cx="266693" cy="24930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676758" y="4638674"/>
            <a:ext cx="1562060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وب‌اپلیکیشن مدرن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2836" y="5162550"/>
            <a:ext cx="309554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کارکرد عالی روی همه دستگاه‌ها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86462" y="5211535"/>
            <a:ext cx="152396" cy="13062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552836" y="5505450"/>
            <a:ext cx="309554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بدون نیاز به نصب از مارکت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86462" y="5554435"/>
            <a:ext cx="152396" cy="130628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86462" y="5897335"/>
            <a:ext cx="152396" cy="130628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86462" y="6240235"/>
            <a:ext cx="152396" cy="130628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666733" y="4438649"/>
            <a:ext cx="3495587" cy="2562224"/>
          </a:xfrm>
          <a:prstGeom prst="roundRect">
            <a:avLst>
              <a:gd name="adj" fmla="val 1189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695607" y="4688991"/>
            <a:ext cx="266693" cy="22321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133546" y="4638674"/>
            <a:ext cx="1419189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مسیر رشد شفاف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6753" y="5162550"/>
            <a:ext cx="309554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شروع ساده با دفترچه دیجیتال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809904" y="5211535"/>
            <a:ext cx="152396" cy="13062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66753" y="5505450"/>
            <a:ext cx="309554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رشد به PWA با ویژگی‌های پیشرفته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809904" y="5554435"/>
            <a:ext cx="152396" cy="130628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809904" y="5897335"/>
            <a:ext cx="152396" cy="130628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809904" y="6240235"/>
            <a:ext cx="152396" cy="1306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3A5F"/>
            </a:gs>
            <a:gs pos="100000">
              <a:srgbClr val="134E4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🚀 فازبندی و استراتژی محصول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06679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سه فاز برای رسیدن به چشم‌انداز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2485" y="1685925"/>
            <a:ext cx="190495" cy="190499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4841" y="2019299"/>
            <a:ext cx="68578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شروع پروژه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34386" y="2305049"/>
            <a:ext cx="25716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ماه 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24561" y="1685925"/>
            <a:ext cx="190495" cy="190499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19769" y="2019299"/>
            <a:ext cx="79055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MVP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6462" y="2305049"/>
            <a:ext cx="26669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ماه 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6638" y="1685925"/>
            <a:ext cx="190495" cy="190499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1845" y="2019299"/>
            <a:ext cx="79055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PWA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489" y="2305049"/>
            <a:ext cx="31431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ماه ۱۲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8714" y="1685925"/>
            <a:ext cx="190495" cy="190499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5822" y="2019299"/>
            <a:ext cx="86675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پلتفرم خدماتی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3941" y="2305049"/>
            <a:ext cx="39051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ماه ۱۸+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7473" y="2895600"/>
            <a:ext cx="3457488" cy="5191125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010624" y="3367087"/>
            <a:ext cx="266693" cy="2000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05652" y="3143250"/>
            <a:ext cx="1962100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فاز ۱: MVP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5652" y="3552825"/>
            <a:ext cx="196210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دفترچه دیجیتال (۰-۶ ماه) ⬅️ الان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117" y="3981449"/>
            <a:ext cx="2962200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فلسفه: ساده، سریع، کاربردی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117" y="4543425"/>
            <a:ext cx="29622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ویژگی‌ها: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117" y="4924424"/>
            <a:ext cx="2962200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خودرو با اطلاعات پایه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24921" y="4973410"/>
            <a:ext cx="152396" cy="1306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15117" y="5286375"/>
            <a:ext cx="2962200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سوابق سرویس و هزینه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24921" y="5335360"/>
            <a:ext cx="152396" cy="130628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24921" y="5697310"/>
            <a:ext cx="152396" cy="130628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24921" y="6059260"/>
            <a:ext cx="152396" cy="130628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24921" y="6421210"/>
            <a:ext cx="152396" cy="130628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24921" y="6783160"/>
            <a:ext cx="152396" cy="13062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8315117" y="7286625"/>
            <a:ext cx="2962200" cy="552450"/>
          </a:xfrm>
          <a:prstGeom prst="roundRect">
            <a:avLst>
              <a:gd name="adj" fmla="val 41379"/>
            </a:avLst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05852" y="7465695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315217" y="7429500"/>
            <a:ext cx="14953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هدف: ۱,۰۰۰ کاربر فعال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62340" y="2895600"/>
            <a:ext cx="3457488" cy="5191125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315017" y="3342446"/>
            <a:ext cx="266693" cy="24930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476738" y="3143250"/>
            <a:ext cx="1695407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فاز ۲: تکمیل تجربه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76738" y="3552825"/>
            <a:ext cx="169540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۶-۱۲ ماه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9984" y="3981449"/>
            <a:ext cx="2962200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فلسفه: غنی‌سازی و حفظ کاربر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09984" y="4543425"/>
            <a:ext cx="29622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ویژگی‌ها: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9984" y="4924424"/>
            <a:ext cx="2962200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تبدیل به Progressive Web App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4" y="4973410"/>
            <a:ext cx="152396" cy="13062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609984" y="5286375"/>
            <a:ext cx="2962200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قابلیت کار آفلاین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4" y="5335360"/>
            <a:ext cx="152396" cy="130628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4" y="5697310"/>
            <a:ext cx="152396" cy="130628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4" y="6059260"/>
            <a:ext cx="152396" cy="130628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4" y="6421210"/>
            <a:ext cx="152396" cy="130628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4609984" y="7286625"/>
            <a:ext cx="2962200" cy="552450"/>
          </a:xfrm>
          <a:prstGeom prst="roundRect">
            <a:avLst>
              <a:gd name="adj" fmla="val 41379"/>
            </a:avLst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210244" y="7465695"/>
            <a:ext cx="228594" cy="19430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543411" y="7429500"/>
            <a:ext cx="15620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هدف: ۱۰,۰۰۰ کاربر فعال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6733" y="2895600"/>
            <a:ext cx="3457488" cy="5191125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609884" y="3338098"/>
            <a:ext cx="266693" cy="258003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81110" y="3143250"/>
            <a:ext cx="1895427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فاز ۳: پلتفرم خدماتی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81110" y="3552825"/>
            <a:ext cx="189542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۱۲+ ماه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377" y="3981449"/>
            <a:ext cx="2962200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فلسفه: ایجاد ارزش برای کاربر و کسب‌وکار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377" y="4543425"/>
            <a:ext cx="29622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ویژگی‌ها: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377" y="4924424"/>
            <a:ext cx="2962200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اتصال به تعویض روغنی‌ها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724181" y="4973410"/>
            <a:ext cx="152396" cy="13062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14377" y="5286375"/>
            <a:ext cx="2962200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رزرو نوبت آنلاین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724181" y="5335360"/>
            <a:ext cx="152396" cy="130628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724181" y="5697310"/>
            <a:ext cx="152396" cy="130628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724181" y="6059260"/>
            <a:ext cx="152396" cy="130628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724181" y="6421210"/>
            <a:ext cx="152396" cy="130628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914377" y="7286625"/>
            <a:ext cx="2962200" cy="552450"/>
          </a:xfrm>
          <a:prstGeom prst="roundRect">
            <a:avLst>
              <a:gd name="adj" fmla="val 41379"/>
            </a:avLst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505112" y="7465695"/>
            <a:ext cx="228594" cy="19430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114397" y="7429500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هدف: ۵۰,۰۰۰+ کاربر، ۱۰۰+ رزرو/ماه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3A5F"/>
            </a:gs>
            <a:gs pos="100000">
              <a:srgbClr val="134E4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🎯 اولویت‌بندی ویژگی‌ها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06679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MoSCoW Method برای 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0144" y="1685925"/>
            <a:ext cx="5314817" cy="5476875"/>
          </a:xfrm>
          <a:prstGeom prst="roundRect">
            <a:avLst>
              <a:gd name="adj" fmla="val 5734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058248" y="2086389"/>
            <a:ext cx="266693" cy="2087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72325" y="1885950"/>
            <a:ext cx="1943051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Must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72325" y="2266950"/>
            <a:ext cx="194305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حیاتی (بدون این‌ها MVP نیست)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9689" y="2647949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مدیریت خودرو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34446" y="2712663"/>
            <a:ext cx="190495" cy="137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19689" y="3057525"/>
            <a:ext cx="491477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خودرو (نام، مدل، سال، رنگ، پلاک)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3124200"/>
            <a:ext cx="152396" cy="952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19689" y="3400425"/>
            <a:ext cx="491477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و به‌روزرسانی کیلومتر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3467100"/>
            <a:ext cx="152396" cy="952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19689" y="3743325"/>
            <a:ext cx="491477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مدیریت چند خودرو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3809999"/>
            <a:ext cx="152396" cy="952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19689" y="4086225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سرویس و یادآوری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134446" y="4128527"/>
            <a:ext cx="190495" cy="1820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19689" y="4495799"/>
            <a:ext cx="491477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سوابق سرویس (تاریخ + کیلومتر + هزینه)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4562475"/>
            <a:ext cx="152396" cy="952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19689" y="4838699"/>
            <a:ext cx="491477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یادآوری دو معیاری (زمان + کیلومتر)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4905375"/>
            <a:ext cx="152396" cy="9524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19689" y="5181599"/>
            <a:ext cx="491477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نوتیفیکیشن داخل اپ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5248275"/>
            <a:ext cx="152396" cy="9524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19689" y="5524499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زیرساخت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134446" y="5587813"/>
            <a:ext cx="190495" cy="140073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6000750"/>
            <a:ext cx="152396" cy="95249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6343650"/>
            <a:ext cx="152396" cy="95249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6686550"/>
            <a:ext cx="152396" cy="95249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66733" y="1685925"/>
            <a:ext cx="5314817" cy="5476875"/>
          </a:xfrm>
          <a:prstGeom prst="roundRect">
            <a:avLst>
              <a:gd name="adj" fmla="val 5734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505312" y="2077692"/>
            <a:ext cx="266693" cy="22611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657508" y="1885950"/>
            <a:ext cx="1714457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Should Have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508" y="2266950"/>
            <a:ext cx="171445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مهم (بدون این‌ها ضعیف‌ایم)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6753" y="2695575"/>
            <a:ext cx="491477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یادآوری با ایمیل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19609" y="2762249"/>
            <a:ext cx="152396" cy="9524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6753" y="3038475"/>
            <a:ext cx="491477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تقویم شمسی کامل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19609" y="3105149"/>
            <a:ext cx="152396" cy="9524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66753" y="3381375"/>
            <a:ext cx="491477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گزارش ساده هزینه‌ها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19609" y="3448049"/>
            <a:ext cx="152396" cy="9524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66753" y="3724274"/>
            <a:ext cx="491477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خروجی CSV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19609" y="3790949"/>
            <a:ext cx="152396" cy="9524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66753" y="4067174"/>
            <a:ext cx="491477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وضعیت «نزدیک موعد» و «گذشته از موعد»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19609" y="4133849"/>
            <a:ext cx="152396" cy="9524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66753" y="4410074"/>
            <a:ext cx="491477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جستجو و فیلتر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19609" y="4476750"/>
            <a:ext cx="152396" cy="9524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66753" y="4752974"/>
            <a:ext cx="491477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پروفایل کاربر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19609" y="4819650"/>
            <a:ext cx="152396" cy="9524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66753" y="5095874"/>
            <a:ext cx="4914777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تنظیمات یادآوری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19609" y="5162550"/>
            <a:ext cx="152396" cy="95249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210144" y="7400925"/>
            <a:ext cx="5314817" cy="5476875"/>
          </a:xfrm>
          <a:prstGeom prst="roundRect">
            <a:avLst>
              <a:gd name="adj" fmla="val 5734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058248" y="7792692"/>
            <a:ext cx="266693" cy="22611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629434" y="7981949"/>
            <a:ext cx="228594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خوب است داشته باشیم (اگر زمان بود)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1172545" y="8477249"/>
            <a:ext cx="152396" cy="95249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1172545" y="8820149"/>
            <a:ext cx="152396" cy="95249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1172545" y="9163049"/>
            <a:ext cx="152396" cy="95249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1172545" y="9505949"/>
            <a:ext cx="152396" cy="95249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1172545" y="9848849"/>
            <a:ext cx="152396" cy="95249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1172545" y="10191749"/>
            <a:ext cx="152396" cy="95249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666733" y="7400925"/>
            <a:ext cx="5314817" cy="5476875"/>
          </a:xfrm>
          <a:prstGeom prst="roundRect">
            <a:avLst>
              <a:gd name="adj" fmla="val 5734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505312" y="7792692"/>
            <a:ext cx="266693" cy="22611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048023" y="7981949"/>
            <a:ext cx="132394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فعلاً نه (فازهای بعدی)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619609" y="8508546"/>
            <a:ext cx="152396" cy="32657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619609" y="8851446"/>
            <a:ext cx="152396" cy="32657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619609" y="9194346"/>
            <a:ext cx="152396" cy="32657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619609" y="9537246"/>
            <a:ext cx="152396" cy="32657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619609" y="9880146"/>
            <a:ext cx="152396" cy="32657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619609" y="10223046"/>
            <a:ext cx="152396" cy="32657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619609" y="10565946"/>
            <a:ext cx="152396" cy="32657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619609" y="10908846"/>
            <a:ext cx="152396" cy="32657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619609" y="11251746"/>
            <a:ext cx="152396" cy="326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3A5F"/>
            </a:gs>
            <a:gs pos="100000">
              <a:srgbClr val="134E4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🗺️ نقشه صفحات اپلیکیشن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06679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ساختار کلی و مسیرهای کاربری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09864" y="1685925"/>
            <a:ext cx="8115097" cy="7210424"/>
          </a:xfrm>
          <a:prstGeom prst="roundRect">
            <a:avLst>
              <a:gd name="adj" fmla="val 4227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010624" y="2010189"/>
            <a:ext cx="266693" cy="2087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48563" y="1933574"/>
            <a:ext cx="1419189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ساختار صفحات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14937" y="2581275"/>
            <a:ext cx="1904952" cy="485775"/>
          </a:xfrm>
          <a:prstGeom prst="roundRect">
            <a:avLst>
              <a:gd name="adj" fmla="val 47058"/>
            </a:avLst>
          </a:prstGeom>
          <a:solidFill>
            <a:srgbClr val="0EA5E9">
              <a:alpha val="20000"/>
            </a:srgbClr>
          </a:solidFill>
          <a:ln w="825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4937" y="2581275"/>
            <a:ext cx="1904952" cy="4857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650"/>
              </a:spcBef>
              <a:spcAft>
                <a:spcPts val="65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خودروبان (ورود)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53296" y="3448049"/>
            <a:ext cx="171445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احراز هویت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296267" y="3486710"/>
            <a:ext cx="190495" cy="15127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53296" y="3781424"/>
            <a:ext cx="1714457" cy="390525"/>
          </a:xfrm>
          <a:prstGeom prst="roundRect">
            <a:avLst>
              <a:gd name="adj" fmla="val 3902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53296" y="3781424"/>
            <a:ext cx="1714457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ورود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53296" y="4248150"/>
            <a:ext cx="1714457" cy="390525"/>
          </a:xfrm>
          <a:prstGeom prst="roundRect">
            <a:avLst>
              <a:gd name="adj" fmla="val 3902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3296" y="4248150"/>
            <a:ext cx="1714457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ثبت‌نام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53296" y="4714875"/>
            <a:ext cx="1714457" cy="390525"/>
          </a:xfrm>
          <a:prstGeom prst="roundRect">
            <a:avLst>
              <a:gd name="adj" fmla="val 3902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3296" y="4714875"/>
            <a:ext cx="1714457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بازیابی رمز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0184" y="3448049"/>
            <a:ext cx="171445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داشبورد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648383" y="3486710"/>
            <a:ext cx="190495" cy="15127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610184" y="3781424"/>
            <a:ext cx="1714457" cy="390525"/>
          </a:xfrm>
          <a:prstGeom prst="roundRect">
            <a:avLst>
              <a:gd name="adj" fmla="val 3902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0184" y="3781424"/>
            <a:ext cx="1714457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خلاصه وضعیت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10184" y="4248150"/>
            <a:ext cx="1714457" cy="390525"/>
          </a:xfrm>
          <a:prstGeom prst="roundRect">
            <a:avLst>
              <a:gd name="adj" fmla="val 3902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0184" y="4248150"/>
            <a:ext cx="1714457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یادآورها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10184" y="4714875"/>
            <a:ext cx="1714457" cy="390525"/>
          </a:xfrm>
          <a:prstGeom prst="roundRect">
            <a:avLst>
              <a:gd name="adj" fmla="val 3902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0184" y="4714875"/>
            <a:ext cx="1714457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آخرین فعالیت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073" y="3448049"/>
            <a:ext cx="171445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تنظیمات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133846" y="3481107"/>
            <a:ext cx="190495" cy="162485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4067073" y="3781424"/>
            <a:ext cx="1714457" cy="390525"/>
          </a:xfrm>
          <a:prstGeom prst="roundRect">
            <a:avLst>
              <a:gd name="adj" fmla="val 3902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7073" y="3781424"/>
            <a:ext cx="1714457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پروفایل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67073" y="4248150"/>
            <a:ext cx="1714457" cy="390525"/>
          </a:xfrm>
          <a:prstGeom prst="roundRect">
            <a:avLst>
              <a:gd name="adj" fmla="val 3902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67073" y="4248150"/>
            <a:ext cx="1714457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67073" y="4714875"/>
            <a:ext cx="1714457" cy="390525"/>
          </a:xfrm>
          <a:prstGeom prst="roundRect">
            <a:avLst>
              <a:gd name="adj" fmla="val 3902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073" y="4714875"/>
            <a:ext cx="1714457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خروج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3356" y="5295899"/>
            <a:ext cx="152396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خودروها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715357" y="5357505"/>
            <a:ext cx="171445" cy="124439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9753356" y="5610224"/>
            <a:ext cx="1523961" cy="323849"/>
          </a:xfrm>
          <a:prstGeom prst="roundRect">
            <a:avLst>
              <a:gd name="adj" fmla="val 3529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53356" y="5610224"/>
            <a:ext cx="152396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لیست خودروها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53356" y="5991225"/>
            <a:ext cx="1523961" cy="323849"/>
          </a:xfrm>
          <a:prstGeom prst="roundRect">
            <a:avLst>
              <a:gd name="adj" fmla="val 3529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53356" y="5991225"/>
            <a:ext cx="152396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جزئیات خودرو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53356" y="6372225"/>
            <a:ext cx="1523961" cy="323849"/>
          </a:xfrm>
          <a:prstGeom prst="roundRect">
            <a:avLst>
              <a:gd name="adj" fmla="val 3529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53356" y="6372225"/>
            <a:ext cx="152396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افزودن خودرو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53356" y="6753224"/>
            <a:ext cx="1523961" cy="323849"/>
          </a:xfrm>
          <a:prstGeom prst="roundRect">
            <a:avLst>
              <a:gd name="adj" fmla="val 3529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53356" y="6753224"/>
            <a:ext cx="152396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ویرایش خودرو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394" y="5295899"/>
            <a:ext cx="152396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سرویس‌ها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258068" y="5336765"/>
            <a:ext cx="171445" cy="165919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8229394" y="5610224"/>
            <a:ext cx="1523961" cy="323849"/>
          </a:xfrm>
          <a:prstGeom prst="roundRect">
            <a:avLst>
              <a:gd name="adj" fmla="val 3529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394" y="5610224"/>
            <a:ext cx="152396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لیست سوابق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394" y="5991225"/>
            <a:ext cx="1523961" cy="323849"/>
          </a:xfrm>
          <a:prstGeom prst="roundRect">
            <a:avLst>
              <a:gd name="adj" fmla="val 3529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394" y="5991225"/>
            <a:ext cx="152396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سرویس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394" y="6372225"/>
            <a:ext cx="1523961" cy="323849"/>
          </a:xfrm>
          <a:prstGeom prst="roundRect">
            <a:avLst>
              <a:gd name="adj" fmla="val 3529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394" y="6372225"/>
            <a:ext cx="152396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جزئیات سرویس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05432" y="5295899"/>
            <a:ext cx="152396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هزینه‌ها 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657908" y="5350591"/>
            <a:ext cx="171445" cy="138266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6705432" y="5610224"/>
            <a:ext cx="1523961" cy="323849"/>
          </a:xfrm>
          <a:prstGeom prst="roundRect">
            <a:avLst>
              <a:gd name="adj" fmla="val 3529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05432" y="5610224"/>
            <a:ext cx="152396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لیست هزینه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705432" y="5991225"/>
            <a:ext cx="1523961" cy="323849"/>
          </a:xfrm>
          <a:prstGeom prst="roundRect">
            <a:avLst>
              <a:gd name="adj" fmla="val 3529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05432" y="5991225"/>
            <a:ext cx="152396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هزینه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705432" y="6372225"/>
            <a:ext cx="1523961" cy="323849"/>
          </a:xfrm>
          <a:prstGeom prst="roundRect">
            <a:avLst>
              <a:gd name="adj" fmla="val 3529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05432" y="6372225"/>
            <a:ext cx="152396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جزئیات هزینه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81470" y="5295899"/>
            <a:ext cx="152396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یادآورها 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124421" y="5346443"/>
            <a:ext cx="171445" cy="146562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5181470" y="5610224"/>
            <a:ext cx="1523961" cy="323849"/>
          </a:xfrm>
          <a:prstGeom prst="roundRect">
            <a:avLst>
              <a:gd name="adj" fmla="val 3529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81470" y="5610224"/>
            <a:ext cx="152396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لیست یادآورها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181470" y="5991225"/>
            <a:ext cx="1523961" cy="323849"/>
          </a:xfrm>
          <a:prstGeom prst="roundRect">
            <a:avLst>
              <a:gd name="adj" fmla="val 3529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81470" y="5991225"/>
            <a:ext cx="152396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یادآورهای فعال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181470" y="6372225"/>
            <a:ext cx="1523961" cy="323849"/>
          </a:xfrm>
          <a:prstGeom prst="roundRect">
            <a:avLst>
              <a:gd name="adj" fmla="val 3529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81470" y="6372225"/>
            <a:ext cx="152396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گذشته از موعد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508" y="5295899"/>
            <a:ext cx="152396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گزارش‌ها 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629034" y="5350591"/>
            <a:ext cx="171445" cy="138266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3657508" y="5610224"/>
            <a:ext cx="1523961" cy="323849"/>
          </a:xfrm>
          <a:prstGeom prst="roundRect">
            <a:avLst>
              <a:gd name="adj" fmla="val 3529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508" y="5610224"/>
            <a:ext cx="152396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گزارش هزینه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657508" y="5991225"/>
            <a:ext cx="1523961" cy="323849"/>
          </a:xfrm>
          <a:prstGeom prst="roundRect">
            <a:avLst>
              <a:gd name="adj" fmla="val 3529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508" y="5991225"/>
            <a:ext cx="152396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گزارش سرویس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657508" y="6372225"/>
            <a:ext cx="1523961" cy="323849"/>
          </a:xfrm>
          <a:prstGeom prst="roundRect">
            <a:avLst>
              <a:gd name="adj" fmla="val 3529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508" y="6372225"/>
            <a:ext cx="1523961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خروجی CSV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66733" y="1685925"/>
            <a:ext cx="2457388" cy="2009774"/>
          </a:xfrm>
          <a:prstGeom prst="roundRect">
            <a:avLst>
              <a:gd name="adj" fmla="val 1516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2619309" y="2580542"/>
            <a:ext cx="304792" cy="211015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66753" y="1885950"/>
            <a:ext cx="1609684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مسیر ۱: افزودن خودرو جدید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6753" y="2543175"/>
            <a:ext cx="1609684" cy="9524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ورود → داشبورد → خودروها → افزودن خودرو → ذخیره → بازگشت به لیست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66733" y="3838574"/>
            <a:ext cx="2457388" cy="1771650"/>
          </a:xfrm>
          <a:prstGeom prst="roundRect">
            <a:avLst>
              <a:gd name="adj" fmla="val 17204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2619309" y="4579326"/>
            <a:ext cx="304792" cy="29014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66753" y="4038599"/>
            <a:ext cx="1609684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مسیر ۲: ثبت سرویس جدید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6753" y="4695824"/>
            <a:ext cx="1609684" cy="7143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داشبورد → انتخاب خودرو → ثبت سرویس → ذخیره → تنظیم یادآور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66733" y="5753099"/>
            <a:ext cx="2457388" cy="1228725"/>
          </a:xfrm>
          <a:prstGeom prst="roundRect">
            <a:avLst>
              <a:gd name="adj" fmla="val 24806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2619309" y="6245469"/>
            <a:ext cx="304792" cy="234461"/>
          </a:xfrm>
          <a:prstGeom prst="rect">
            <a:avLst/>
          </a:prstGeom>
        </p:spPr>
      </p:pic>
      <p:sp>
        <p:nvSpPr>
          <p:cNvPr id="85" name="Rounded Rectangle 84"/>
          <p:cNvSpPr/>
          <p:nvPr/>
        </p:nvSpPr>
        <p:spPr>
          <a:xfrm>
            <a:off x="666733" y="7124699"/>
            <a:ext cx="2457388" cy="1771650"/>
          </a:xfrm>
          <a:prstGeom prst="roundRect">
            <a:avLst>
              <a:gd name="adj" fmla="val 17204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2619309" y="7893294"/>
            <a:ext cx="304792" cy="2344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3A5F"/>
            </a:gs>
            <a:gs pos="100000">
              <a:srgbClr val="134E4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📱 صفحات اصلی (بخش ۱)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06679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ورود، ثبت‌نام، داشبورد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7473" y="1685925"/>
            <a:ext cx="3457488" cy="7200900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058248" y="1953039"/>
            <a:ext cx="266693" cy="2087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53376" y="1885950"/>
            <a:ext cx="962000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صفحه ورود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67493" y="2362199"/>
            <a:ext cx="3057448" cy="6324599"/>
          </a:xfrm>
          <a:prstGeom prst="roundRect">
            <a:avLst>
              <a:gd name="adj" fmla="val 747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9889" y="2514600"/>
            <a:ext cx="2752656" cy="6019800"/>
          </a:xfrm>
          <a:prstGeom prst="roundRect">
            <a:avLst>
              <a:gd name="adj" fmla="val 13840"/>
            </a:avLst>
          </a:prstGeom>
          <a:solidFill>
            <a:srgbClr val="1E3A5F">
              <a:alpha val="6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15217" y="2667000"/>
            <a:ext cx="952476" cy="190499"/>
          </a:xfrm>
          <a:prstGeom prst="roundRect">
            <a:avLst>
              <a:gd name="adj" fmla="val 1000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5" y="2952750"/>
            <a:ext cx="2447863" cy="5429250"/>
          </a:xfrm>
          <a:prstGeom prst="roundRect">
            <a:avLst>
              <a:gd name="adj" fmla="val 9338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5157" y="3095625"/>
            <a:ext cx="21621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🚗 خودروبان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5157" y="3552825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ایمیل یا موبایل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724881" y="3600450"/>
            <a:ext cx="152396" cy="1143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715157" y="3809999"/>
            <a:ext cx="2162120" cy="209550"/>
          </a:xfrm>
          <a:prstGeom prst="roundRect">
            <a:avLst>
              <a:gd name="adj" fmla="val 72727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5157" y="4162424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رمز عبور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724881" y="4197803"/>
            <a:ext cx="152396" cy="13879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715157" y="4419600"/>
            <a:ext cx="2162120" cy="209550"/>
          </a:xfrm>
          <a:prstGeom prst="roundRect">
            <a:avLst>
              <a:gd name="adj" fmla="val 72727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15157" y="5124449"/>
            <a:ext cx="2162120" cy="409574"/>
          </a:xfrm>
          <a:prstGeom prst="roundRect">
            <a:avLst>
              <a:gd name="adj" fmla="val 37209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5157" y="6124574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975"/>
              </a:spcBef>
              <a:spcAft>
                <a:spcPts val="975"/>
              </a:spcAft>
            </a:pPr>
            <a:r>
              <a:rPr sz="837" b="0">
                <a:solidFill>
                  <a:srgbClr val="777777"/>
                </a:solidFill>
                <a:latin typeface="Vazirmatn"/>
                <a:rFonts ascii="Vazirmatn" hAnsi="Vazirmatn" eastAsia="Vazirmatn" cs="Vazirmatn"/>
              </a:rPr>
              <a:t>یا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2340" y="1685925"/>
            <a:ext cx="3457488" cy="7200900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362640" y="1961735"/>
            <a:ext cx="266693" cy="1913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48223" y="1885950"/>
            <a:ext cx="1171545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صفحه ثبت‌نام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62360" y="2362199"/>
            <a:ext cx="3057448" cy="6324599"/>
          </a:xfrm>
          <a:prstGeom prst="roundRect">
            <a:avLst>
              <a:gd name="adj" fmla="val 747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14757" y="2514600"/>
            <a:ext cx="2752656" cy="6019800"/>
          </a:xfrm>
          <a:prstGeom prst="roundRect">
            <a:avLst>
              <a:gd name="adj" fmla="val 13840"/>
            </a:avLst>
          </a:prstGeom>
          <a:solidFill>
            <a:srgbClr val="1E3A5F">
              <a:alpha val="6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19609" y="2667000"/>
            <a:ext cx="952476" cy="190499"/>
          </a:xfrm>
          <a:prstGeom prst="roundRect">
            <a:avLst>
              <a:gd name="adj" fmla="val 1000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7153" y="2952750"/>
            <a:ext cx="2447863" cy="5429250"/>
          </a:xfrm>
          <a:prstGeom prst="roundRect">
            <a:avLst>
              <a:gd name="adj" fmla="val 9338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10024" y="3095625"/>
            <a:ext cx="21621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🚗 خودروبان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024" y="3552825"/>
            <a:ext cx="216212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95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ایجاد حساب کاربری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024" y="3981449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نام و نام خانوادگی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029274" y="4029075"/>
            <a:ext cx="152396" cy="11430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5010024" y="4238624"/>
            <a:ext cx="2162120" cy="209550"/>
          </a:xfrm>
          <a:prstGeom prst="roundRect">
            <a:avLst>
              <a:gd name="adj" fmla="val 72727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10024" y="4591050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ایمیل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029274" y="4638674"/>
            <a:ext cx="152396" cy="1143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5010024" y="4848225"/>
            <a:ext cx="2162120" cy="209550"/>
          </a:xfrm>
          <a:prstGeom prst="roundRect">
            <a:avLst>
              <a:gd name="adj" fmla="val 72727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024" y="5200650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شماره موبایل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029274" y="5245553"/>
            <a:ext cx="152396" cy="119742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5010024" y="5457825"/>
            <a:ext cx="2162120" cy="209550"/>
          </a:xfrm>
          <a:prstGeom prst="roundRect">
            <a:avLst>
              <a:gd name="adj" fmla="val 72727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10024" y="5810249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رمز عبور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029274" y="5845628"/>
            <a:ext cx="152396" cy="138792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5010024" y="6067424"/>
            <a:ext cx="2162120" cy="209550"/>
          </a:xfrm>
          <a:prstGeom prst="roundRect">
            <a:avLst>
              <a:gd name="adj" fmla="val 72727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10024" y="6419850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تکرار رمز عبور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029274" y="6455228"/>
            <a:ext cx="152396" cy="138792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5010024" y="6677025"/>
            <a:ext cx="2162120" cy="209550"/>
          </a:xfrm>
          <a:prstGeom prst="roundRect">
            <a:avLst>
              <a:gd name="adj" fmla="val 72727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10024" y="7381874"/>
            <a:ext cx="2162120" cy="409574"/>
          </a:xfrm>
          <a:prstGeom prst="roundRect">
            <a:avLst>
              <a:gd name="adj" fmla="val 37209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66733" y="1685925"/>
            <a:ext cx="3457488" cy="7200900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657508" y="1953039"/>
            <a:ext cx="266693" cy="20872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857428" y="1885950"/>
            <a:ext cx="65720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داشبورد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6753" y="2362199"/>
            <a:ext cx="3057448" cy="6324599"/>
          </a:xfrm>
          <a:prstGeom prst="roundRect">
            <a:avLst>
              <a:gd name="adj" fmla="val 747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19149" y="2514600"/>
            <a:ext cx="2752656" cy="6019800"/>
          </a:xfrm>
          <a:prstGeom prst="roundRect">
            <a:avLst>
              <a:gd name="adj" fmla="val 13840"/>
            </a:avLst>
          </a:prstGeom>
          <a:solidFill>
            <a:srgbClr val="1E3A5F">
              <a:alpha val="6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924001" y="2667000"/>
            <a:ext cx="952476" cy="190499"/>
          </a:xfrm>
          <a:prstGeom prst="roundRect">
            <a:avLst>
              <a:gd name="adj" fmla="val 1000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71545" y="2952750"/>
            <a:ext cx="2447863" cy="5429250"/>
          </a:xfrm>
          <a:prstGeom prst="roundRect">
            <a:avLst>
              <a:gd name="adj" fmla="val 9338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14417" y="3095625"/>
            <a:ext cx="21621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👋 سلام، [نام کاربر]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14417" y="3505199"/>
            <a:ext cx="2162120" cy="1400175"/>
          </a:xfrm>
          <a:prstGeom prst="roundRect">
            <a:avLst>
              <a:gd name="adj" fmla="val 10884"/>
            </a:avLst>
          </a:prstGeom>
          <a:solidFill>
            <a:srgbClr val="14B8A6">
              <a:alpha val="10000"/>
            </a:srgbClr>
          </a:solidFill>
          <a:ln w="825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19189" y="3609975"/>
            <a:ext cx="195257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یادآورهای نزدیک 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3219369" y="3649435"/>
            <a:ext cx="152396" cy="13062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419189" y="3867149"/>
            <a:ext cx="195257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⚠️ پژو ۲۰۶ - تعویض روغن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19189" y="4124324"/>
            <a:ext cx="195257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77777"/>
                </a:solidFill>
                <a:latin typeface="Vazirmatn"/>
                <a:rFonts ascii="Vazirmatn" hAnsi="Vazirmatn" eastAsia="Vazirmatn" cs="Vazirmatn"/>
              </a:rPr>
              <a:t>۳ روز دیگر / ۵۰۰ کیلومتر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19189" y="4371975"/>
            <a:ext cx="195257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520"/>
              </a:spcBef>
              <a:spcAft>
                <a:spcPts val="325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⏰ سمند - چک ترمز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19189" y="4629150"/>
            <a:ext cx="195257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77777"/>
                </a:solidFill>
                <a:latin typeface="Vazirmatn"/>
                <a:rFonts ascii="Vazirmatn" hAnsi="Vazirmatn" eastAsia="Vazirmatn" cs="Vazirmatn"/>
              </a:rPr>
              <a:t>۲ هفته دیگر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438339" y="5048250"/>
            <a:ext cx="1038199" cy="685800"/>
          </a:xfrm>
          <a:prstGeom prst="roundRect">
            <a:avLst>
              <a:gd name="adj" fmla="val 22222"/>
            </a:avLst>
          </a:prstGeom>
          <a:solidFill>
            <a:srgbClr val="0EA5E9">
              <a:alpha val="10000"/>
            </a:srgbClr>
          </a:solidFill>
          <a:ln w="825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43111" y="5153024"/>
            <a:ext cx="82865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EA5E9"/>
                </a:solidFill>
                <a:latin typeface="Vazirmatn"/>
                <a:rFonts ascii="Vazirmatn" hAnsi="Vazirmatn" eastAsia="Vazirmatn" cs="Vazirmatn"/>
              </a:rPr>
              <a:t>🚗 ۲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43111" y="5457825"/>
            <a:ext cx="82865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خودرو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314417" y="5048250"/>
            <a:ext cx="1038199" cy="685800"/>
          </a:xfrm>
          <a:prstGeom prst="roundRect">
            <a:avLst>
              <a:gd name="adj" fmla="val 22222"/>
            </a:avLst>
          </a:prstGeom>
          <a:solidFill>
            <a:srgbClr val="0EA5E9">
              <a:alpha val="10000"/>
            </a:srgbClr>
          </a:solidFill>
          <a:ln w="825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19189" y="5153024"/>
            <a:ext cx="82865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EA5E9"/>
                </a:solidFill>
                <a:latin typeface="Vazirmatn"/>
                <a:rFonts ascii="Vazirmatn" hAnsi="Vazirmatn" eastAsia="Vazirmatn" cs="Vazirmatn"/>
              </a:rPr>
              <a:t>💰 ۱.۵M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19189" y="5457825"/>
            <a:ext cx="82865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هزینه ماه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314417" y="5876925"/>
            <a:ext cx="2162120" cy="1247775"/>
          </a:xfrm>
          <a:prstGeom prst="roundRect">
            <a:avLst>
              <a:gd name="adj" fmla="val 12213"/>
            </a:avLst>
          </a:prstGeom>
          <a:solidFill>
            <a:srgbClr val="14B8A6">
              <a:alpha val="10000"/>
            </a:srgbClr>
          </a:solidFill>
          <a:ln w="825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19189" y="5981699"/>
            <a:ext cx="195257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آخرین فعالیت‌ها 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3219369" y="6045653"/>
            <a:ext cx="152396" cy="81642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3219369" y="6383110"/>
            <a:ext cx="152396" cy="130628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3219369" y="6779078"/>
            <a:ext cx="152396" cy="119742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3209844" y="7871011"/>
            <a:ext cx="190495" cy="145676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2838379" y="7875213"/>
            <a:ext cx="190495" cy="137272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2400239" y="7862607"/>
            <a:ext cx="190495" cy="162485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1962100" y="7882217"/>
            <a:ext cx="190495" cy="123264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1485862" y="7862607"/>
            <a:ext cx="190495" cy="1624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3A5F"/>
            </a:gs>
            <a:gs pos="100000">
              <a:srgbClr val="134E4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📱 صفحات اصلی (بخش 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06679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لیست خودروها، جزئیات خودرو، فرم افزودن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7473" y="1685925"/>
            <a:ext cx="3457488" cy="8258175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058248" y="1993623"/>
            <a:ext cx="266693" cy="127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9534" y="1885950"/>
            <a:ext cx="1285842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لیست خودروها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67493" y="2362199"/>
            <a:ext cx="3057448" cy="7381874"/>
          </a:xfrm>
          <a:prstGeom prst="roundRect">
            <a:avLst>
              <a:gd name="adj" fmla="val 747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9889" y="2514600"/>
            <a:ext cx="2752656" cy="7077075"/>
          </a:xfrm>
          <a:prstGeom prst="roundRect">
            <a:avLst>
              <a:gd name="adj" fmla="val 13840"/>
            </a:avLst>
          </a:prstGeom>
          <a:solidFill>
            <a:srgbClr val="1E3A5F">
              <a:alpha val="6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15217" y="2667000"/>
            <a:ext cx="952476" cy="190499"/>
          </a:xfrm>
          <a:prstGeom prst="roundRect">
            <a:avLst>
              <a:gd name="adj" fmla="val 1000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5" y="2952750"/>
            <a:ext cx="2447863" cy="6486525"/>
          </a:xfrm>
          <a:prstGeom prst="roundRect">
            <a:avLst>
              <a:gd name="adj" fmla="val 9338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86682" y="3133724"/>
            <a:ext cx="11905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← خودروهای من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15157" y="3095625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15157" y="3686175"/>
            <a:ext cx="2162120" cy="1400175"/>
          </a:xfrm>
          <a:prstGeom prst="roundRect">
            <a:avLst>
              <a:gd name="adj" fmla="val 13605"/>
            </a:avLst>
          </a:prstGeom>
          <a:solidFill>
            <a:srgbClr val="14B8A6">
              <a:alpha val="10000"/>
            </a:srgbClr>
          </a:solidFill>
          <a:ln w="825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7553" y="3838574"/>
            <a:ext cx="185732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پژو ۲۰۶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534386" y="3893763"/>
            <a:ext cx="190495" cy="1372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7553" y="4152899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مدل ۱۳۹۸ | سفید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7553" y="4438649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کیلومتر: ۵۰,۰۰۰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7553" y="4724399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97316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F97316"/>
                </a:solidFill>
                <a:latin typeface="Vazirmatn"/>
                <a:rFonts ascii="Vazirmatn" hAnsi="Vazirmatn" eastAsia="Vazirmatn" cs="Vazirmatn"/>
              </a:rPr>
              <a:t> تعویض روغن: ۳ روز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572485" y="4766582"/>
            <a:ext cx="152396" cy="12518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715157" y="5229225"/>
            <a:ext cx="2162120" cy="1400175"/>
          </a:xfrm>
          <a:prstGeom prst="roundRect">
            <a:avLst>
              <a:gd name="adj" fmla="val 13605"/>
            </a:avLst>
          </a:prstGeom>
          <a:solidFill>
            <a:srgbClr val="14B8A6">
              <a:alpha val="10000"/>
            </a:srgbClr>
          </a:solidFill>
          <a:ln w="825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7553" y="5381624"/>
            <a:ext cx="185732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سمند LX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534386" y="5436813"/>
            <a:ext cx="190495" cy="1372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67553" y="5695949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مدل ۱۳۹۵ | نقره‌ای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7553" y="5981699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کیلومتر: ۱۲۰,۰۰۰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7553" y="6267449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2C55E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22C55E"/>
                </a:solidFill>
                <a:latin typeface="Vazirmatn"/>
                <a:rFonts ascii="Vazirmatn" hAnsi="Vazirmatn" eastAsia="Vazirmatn" cs="Vazirmatn"/>
              </a:rPr>
              <a:t> وضعیت: سالم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572485" y="6306910"/>
            <a:ext cx="152396" cy="13062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715157" y="6772275"/>
            <a:ext cx="2162120" cy="761999"/>
          </a:xfrm>
          <a:prstGeom prst="roundRect">
            <a:avLst>
              <a:gd name="adj" fmla="val 25000"/>
            </a:avLst>
          </a:prstGeom>
          <a:solidFill>
            <a:srgbClr val="FFFFFF">
              <a:alpha val="50000"/>
            </a:srgbClr>
          </a:solidFill>
          <a:ln w="165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124821" y="7056119"/>
            <a:ext cx="228594" cy="194309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610584" y="8928286"/>
            <a:ext cx="190495" cy="145676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229594" y="8932488"/>
            <a:ext cx="190495" cy="137272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800979" y="8919882"/>
            <a:ext cx="190495" cy="16248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362840" y="8939492"/>
            <a:ext cx="190495" cy="123264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886602" y="8919882"/>
            <a:ext cx="190495" cy="162485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4362340" y="1685925"/>
            <a:ext cx="3457488" cy="8258175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362640" y="1944342"/>
            <a:ext cx="266693" cy="22611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057748" y="1885950"/>
            <a:ext cx="1162020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جزئیات خودرو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62360" y="2362199"/>
            <a:ext cx="3057448" cy="7381874"/>
          </a:xfrm>
          <a:prstGeom prst="roundRect">
            <a:avLst>
              <a:gd name="adj" fmla="val 747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714757" y="2514600"/>
            <a:ext cx="2752656" cy="7077075"/>
          </a:xfrm>
          <a:prstGeom prst="roundRect">
            <a:avLst>
              <a:gd name="adj" fmla="val 13840"/>
            </a:avLst>
          </a:prstGeom>
          <a:solidFill>
            <a:srgbClr val="1E3A5F">
              <a:alpha val="6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19609" y="2667000"/>
            <a:ext cx="952476" cy="190499"/>
          </a:xfrm>
          <a:prstGeom prst="roundRect">
            <a:avLst>
              <a:gd name="adj" fmla="val 1000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867153" y="2952750"/>
            <a:ext cx="2447863" cy="6486525"/>
          </a:xfrm>
          <a:prstGeom prst="roundRect">
            <a:avLst>
              <a:gd name="adj" fmla="val 9338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57788" y="3124200"/>
            <a:ext cx="7238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← پژو ۲۰۶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381490" y="3121342"/>
            <a:ext cx="228594" cy="177164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010024" y="3121342"/>
            <a:ext cx="228594" cy="177164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5010024" y="3657600"/>
            <a:ext cx="2162120" cy="1143000"/>
          </a:xfrm>
          <a:prstGeom prst="roundRect">
            <a:avLst>
              <a:gd name="adj" fmla="val 13333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867253" y="4072689"/>
            <a:ext cx="457188" cy="312821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997525" y="4972050"/>
            <a:ext cx="177795" cy="1524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867253" y="4943475"/>
            <a:ext cx="104772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مدل: پژو ۲۰۶ تیپ ۵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999339" y="5276850"/>
            <a:ext cx="174167" cy="15239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952976" y="5248275"/>
            <a:ext cx="95247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سال ساخت: ۱۳۹۸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6997525" y="5581649"/>
            <a:ext cx="177795" cy="1524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991175" y="5891212"/>
            <a:ext cx="190495" cy="14287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6991175" y="6197713"/>
            <a:ext cx="190495" cy="139473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6143471" y="6515100"/>
            <a:ext cx="1038199" cy="647699"/>
          </a:xfrm>
          <a:prstGeom prst="roundRect">
            <a:avLst>
              <a:gd name="adj" fmla="val 23529"/>
            </a:avLst>
          </a:prstGeom>
          <a:solidFill>
            <a:srgbClr val="0EA5E9">
              <a:alpha val="10000"/>
            </a:srgbClr>
          </a:solidFill>
          <a:ln w="825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48243" y="6619875"/>
            <a:ext cx="8286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EA5E9"/>
                </a:solidFill>
                <a:latin typeface="Vazirmatn"/>
                <a:rFonts ascii="Vazirmatn" hAnsi="Vazirmatn" eastAsia="Vazirmatn" cs="Vazirmatn"/>
              </a:rPr>
              <a:t>🔧 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48243" y="6886575"/>
            <a:ext cx="82865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سرویس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10024" y="6515100"/>
            <a:ext cx="1038199" cy="647699"/>
          </a:xfrm>
          <a:prstGeom prst="roundRect">
            <a:avLst>
              <a:gd name="adj" fmla="val 23529"/>
            </a:avLst>
          </a:prstGeom>
          <a:solidFill>
            <a:srgbClr val="0EA5E9">
              <a:alpha val="10000"/>
            </a:srgbClr>
          </a:solidFill>
          <a:ln w="825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14797" y="6619875"/>
            <a:ext cx="8286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EA5E9"/>
                </a:solidFill>
                <a:latin typeface="Vazirmatn"/>
                <a:rFonts ascii="Vazirmatn" hAnsi="Vazirmatn" eastAsia="Vazirmatn" cs="Vazirmatn"/>
              </a:rPr>
              <a:t>💰 ۳.۲M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14797" y="6886575"/>
            <a:ext cx="82865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هزینه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10024" y="7305675"/>
            <a:ext cx="2162120" cy="1009649"/>
          </a:xfrm>
          <a:prstGeom prst="roundRect">
            <a:avLst>
              <a:gd name="adj" fmla="val 15094"/>
            </a:avLst>
          </a:prstGeom>
          <a:solidFill>
            <a:srgbClr val="14B8A6">
              <a:alpha val="10000"/>
            </a:srgbClr>
          </a:solidFill>
          <a:ln w="825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14797" y="7410449"/>
            <a:ext cx="195257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یادآورهای فعال 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6924501" y="7449910"/>
            <a:ext cx="152396" cy="130628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6943551" y="7744967"/>
            <a:ext cx="133346" cy="112014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2">
            <a:alphaModFix amt="100000"/>
          </a:blip>
          <a:stretch>
            <a:fillRect/>
          </a:stretch>
        </p:blipFill>
        <p:spPr>
          <a:xfrm>
            <a:off x="6943551" y="7999476"/>
            <a:ext cx="133346" cy="117348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5010024" y="8458200"/>
            <a:ext cx="2162120" cy="342900"/>
          </a:xfrm>
          <a:prstGeom prst="roundRect">
            <a:avLst>
              <a:gd name="adj" fmla="val 44444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914977" y="8928286"/>
            <a:ext cx="190495" cy="145676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33986" y="8932488"/>
            <a:ext cx="190495" cy="137272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105372" y="8919882"/>
            <a:ext cx="190495" cy="162485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667233" y="8939492"/>
            <a:ext cx="190495" cy="123264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181470" y="8919882"/>
            <a:ext cx="190495" cy="162485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666733" y="1685925"/>
            <a:ext cx="3457488" cy="8258175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3">
            <a:alphaModFix amt="100000"/>
          </a:blip>
          <a:stretch>
            <a:fillRect/>
          </a:stretch>
        </p:blipFill>
        <p:spPr>
          <a:xfrm>
            <a:off x="3657508" y="1944342"/>
            <a:ext cx="266693" cy="22611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028774" y="1885950"/>
            <a:ext cx="1495387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فرم افزودن خودرو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66753" y="2362199"/>
            <a:ext cx="3057448" cy="7381874"/>
          </a:xfrm>
          <a:prstGeom prst="roundRect">
            <a:avLst>
              <a:gd name="adj" fmla="val 747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19149" y="2514600"/>
            <a:ext cx="2752656" cy="7077075"/>
          </a:xfrm>
          <a:prstGeom prst="roundRect">
            <a:avLst>
              <a:gd name="adj" fmla="val 13840"/>
            </a:avLst>
          </a:prstGeom>
          <a:solidFill>
            <a:srgbClr val="1E3A5F">
              <a:alpha val="6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924001" y="2667000"/>
            <a:ext cx="952476" cy="190499"/>
          </a:xfrm>
          <a:prstGeom prst="roundRect">
            <a:avLst>
              <a:gd name="adj" fmla="val 1000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171545" y="2952750"/>
            <a:ext cx="2447863" cy="6486525"/>
          </a:xfrm>
          <a:prstGeom prst="roundRect">
            <a:avLst>
              <a:gd name="adj" fmla="val 9338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924001" y="3095625"/>
            <a:ext cx="15525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← افزودن خودرو جدید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314417" y="3609975"/>
            <a:ext cx="2162120" cy="1143000"/>
          </a:xfrm>
          <a:prstGeom prst="roundRect">
            <a:avLst>
              <a:gd name="adj" fmla="val 13333"/>
            </a:avLst>
          </a:prstGeom>
          <a:solidFill>
            <a:srgbClr val="F0F0F0"/>
          </a:solidFill>
          <a:ln w="165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24">
            <a:alphaModFix amt="100000"/>
          </a:blip>
          <a:stretch>
            <a:fillRect/>
          </a:stretch>
        </p:blipFill>
        <p:spPr>
          <a:xfrm>
            <a:off x="2228794" y="3905414"/>
            <a:ext cx="342891" cy="304471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2104972" y="4267199"/>
            <a:ext cx="59053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  <a:latin typeface="Vazirmatn"/>
                <a:rFonts ascii="Vazirmatn" hAnsi="Vazirmatn" eastAsia="Vazirmatn" cs="Vazirmatn"/>
              </a:rPr>
              <a:t>آپلود تصویر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14417" y="4895849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نام خودرو (دلخواه) </a:t>
            </a:r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25">
            <a:alphaModFix amt="100000"/>
          </a:blip>
          <a:stretch>
            <a:fillRect/>
          </a:stretch>
        </p:blipFill>
        <p:spPr>
          <a:xfrm>
            <a:off x="3324141" y="4940753"/>
            <a:ext cx="152396" cy="11974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1314417" y="5153024"/>
            <a:ext cx="2162120" cy="209550"/>
          </a:xfrm>
          <a:prstGeom prst="roundRect">
            <a:avLst>
              <a:gd name="adj" fmla="val 72727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314417" y="5505450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مدل خودرو </a:t>
            </a:r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26">
            <a:alphaModFix amt="100000"/>
          </a:blip>
          <a:stretch>
            <a:fillRect/>
          </a:stretch>
        </p:blipFill>
        <p:spPr>
          <a:xfrm>
            <a:off x="3324141" y="5555796"/>
            <a:ext cx="152396" cy="108857"/>
          </a:xfrm>
          <a:prstGeom prst="rect">
            <a:avLst/>
          </a:prstGeom>
        </p:spPr>
      </p:pic>
      <p:sp>
        <p:nvSpPr>
          <p:cNvPr id="86" name="Rounded Rectangle 85"/>
          <p:cNvSpPr/>
          <p:nvPr/>
        </p:nvSpPr>
        <p:spPr>
          <a:xfrm>
            <a:off x="1314417" y="5762625"/>
            <a:ext cx="2162120" cy="209550"/>
          </a:xfrm>
          <a:prstGeom prst="roundRect">
            <a:avLst>
              <a:gd name="adj" fmla="val 72727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314417" y="6115050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سال ساخت 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3324141" y="6153149"/>
            <a:ext cx="152396" cy="133349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1314417" y="6372225"/>
            <a:ext cx="2162120" cy="209550"/>
          </a:xfrm>
          <a:prstGeom prst="roundRect">
            <a:avLst>
              <a:gd name="adj" fmla="val 72727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314417" y="6724649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رنگ </a:t>
            </a:r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3324141" y="6764110"/>
            <a:ext cx="152396" cy="130628"/>
          </a:xfrm>
          <a:prstGeom prst="rect">
            <a:avLst/>
          </a:prstGeom>
        </p:spPr>
      </p:pic>
      <p:sp>
        <p:nvSpPr>
          <p:cNvPr id="92" name="Rounded Rectangle 91"/>
          <p:cNvSpPr/>
          <p:nvPr/>
        </p:nvSpPr>
        <p:spPr>
          <a:xfrm>
            <a:off x="1314417" y="6981824"/>
            <a:ext cx="2162120" cy="209550"/>
          </a:xfrm>
          <a:prstGeom prst="roundRect">
            <a:avLst>
              <a:gd name="adj" fmla="val 72727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14417" y="7334249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پلاک </a:t>
            </a:r>
          </a:p>
        </p:txBody>
      </p:sp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3324141" y="7381874"/>
            <a:ext cx="152396" cy="114300"/>
          </a:xfrm>
          <a:prstGeom prst="rect">
            <a:avLst/>
          </a:prstGeom>
        </p:spPr>
      </p:pic>
      <p:sp>
        <p:nvSpPr>
          <p:cNvPr id="95" name="Rounded Rectangle 94"/>
          <p:cNvSpPr/>
          <p:nvPr/>
        </p:nvSpPr>
        <p:spPr>
          <a:xfrm>
            <a:off x="1314417" y="7591424"/>
            <a:ext cx="2162120" cy="209550"/>
          </a:xfrm>
          <a:prstGeom prst="roundRect">
            <a:avLst>
              <a:gd name="adj" fmla="val 72727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314417" y="7943850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کیلومتر فعلی </a:t>
            </a:r>
          </a:p>
        </p:txBody>
      </p:sp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3324141" y="7992835"/>
            <a:ext cx="152396" cy="111578"/>
          </a:xfrm>
          <a:prstGeom prst="rect">
            <a:avLst/>
          </a:prstGeom>
        </p:spPr>
      </p:pic>
      <p:sp>
        <p:nvSpPr>
          <p:cNvPr id="98" name="Rounded Rectangle 97"/>
          <p:cNvSpPr/>
          <p:nvPr/>
        </p:nvSpPr>
        <p:spPr>
          <a:xfrm>
            <a:off x="1314417" y="8201025"/>
            <a:ext cx="2162120" cy="209550"/>
          </a:xfrm>
          <a:prstGeom prst="roundRect">
            <a:avLst>
              <a:gd name="adj" fmla="val 72727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314417" y="8648699"/>
            <a:ext cx="2162120" cy="409574"/>
          </a:xfrm>
          <a:prstGeom prst="roundRect">
            <a:avLst>
              <a:gd name="adj" fmla="val 37209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3A5F"/>
            </a:gs>
            <a:gs pos="100000">
              <a:srgbClr val="134E4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📱 صفحات اصلی (بخش ۳)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06679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ثبت سرویس، ثبت هزینه، یادآورها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7473" y="1685925"/>
            <a:ext cx="3457488" cy="9315450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058248" y="1929847"/>
            <a:ext cx="266693" cy="2551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05712" y="1885950"/>
            <a:ext cx="1409664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فرم ثبت سرویس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67493" y="2362199"/>
            <a:ext cx="3057448" cy="8439150"/>
          </a:xfrm>
          <a:prstGeom prst="roundRect">
            <a:avLst>
              <a:gd name="adj" fmla="val 747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9889" y="2514600"/>
            <a:ext cx="2752656" cy="8134349"/>
          </a:xfrm>
          <a:prstGeom prst="roundRect">
            <a:avLst>
              <a:gd name="adj" fmla="val 13840"/>
            </a:avLst>
          </a:prstGeom>
          <a:solidFill>
            <a:srgbClr val="1E3A5F">
              <a:alpha val="6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15217" y="2667000"/>
            <a:ext cx="952476" cy="190499"/>
          </a:xfrm>
          <a:prstGeom prst="roundRect">
            <a:avLst>
              <a:gd name="adj" fmla="val 1000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5" y="2952750"/>
            <a:ext cx="2447863" cy="7543800"/>
          </a:xfrm>
          <a:prstGeom prst="roundRect">
            <a:avLst>
              <a:gd name="adj" fmla="val 9338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1415" y="3095625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← ثبت سرویس جدید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5157" y="3609975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خودرو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724881" y="3660321"/>
            <a:ext cx="152396" cy="10885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715157" y="3867149"/>
            <a:ext cx="2162120" cy="361950"/>
          </a:xfrm>
          <a:prstGeom prst="roundRect">
            <a:avLst>
              <a:gd name="adj" fmla="val 42105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5157" y="4371975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نوع سرویس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724881" y="4403271"/>
            <a:ext cx="152396" cy="14695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715157" y="4629150"/>
            <a:ext cx="2162120" cy="361950"/>
          </a:xfrm>
          <a:prstGeom prst="roundRect">
            <a:avLst>
              <a:gd name="adj" fmla="val 42105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5157" y="5133975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تاریخ سرویس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724881" y="5172075"/>
            <a:ext cx="152396" cy="133349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715157" y="5391150"/>
            <a:ext cx="2162120" cy="419100"/>
          </a:xfrm>
          <a:prstGeom prst="roundRect">
            <a:avLst>
              <a:gd name="adj" fmla="val 36363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5157" y="5391150"/>
            <a:ext cx="2162120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۱۴۰۳/۱۰/۰۱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5157" y="5953124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کیلومتر در زمان سرویس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724881" y="6002110"/>
            <a:ext cx="152396" cy="11157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715157" y="6210299"/>
            <a:ext cx="2162120" cy="209550"/>
          </a:xfrm>
          <a:prstGeom prst="roundRect">
            <a:avLst>
              <a:gd name="adj" fmla="val 72727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5157" y="6562725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هزینه (تومان)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724881" y="6610349"/>
            <a:ext cx="152396" cy="11430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715157" y="6819900"/>
            <a:ext cx="2162120" cy="209550"/>
          </a:xfrm>
          <a:prstGeom prst="roundRect">
            <a:avLst>
              <a:gd name="adj" fmla="val 72727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15157" y="7172325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توضیحات (اختیاری)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724881" y="7211785"/>
            <a:ext cx="152396" cy="13062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8715157" y="7429500"/>
            <a:ext cx="2162120" cy="76199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715157" y="8420099"/>
            <a:ext cx="2162120" cy="1285875"/>
          </a:xfrm>
          <a:prstGeom prst="roundRect">
            <a:avLst>
              <a:gd name="adj" fmla="val 11851"/>
            </a:avLst>
          </a:prstGeom>
          <a:solidFill>
            <a:srgbClr val="14B8A6">
              <a:alpha val="10000"/>
            </a:srgbClr>
          </a:solidFill>
          <a:ln w="825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19929" y="8524875"/>
            <a:ext cx="195257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837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تنظیم یادآور بعدی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620109" y="8564335"/>
            <a:ext cx="152396" cy="1306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839079" y="8829675"/>
            <a:ext cx="93342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زمان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0620109" y="8869135"/>
            <a:ext cx="152396" cy="130628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9839079" y="9086850"/>
            <a:ext cx="933426" cy="419100"/>
          </a:xfrm>
          <a:prstGeom prst="roundRect">
            <a:avLst>
              <a:gd name="adj" fmla="val 36363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9079" y="9086850"/>
            <a:ext cx="933426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۳ ماه بعد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19929" y="8829675"/>
            <a:ext cx="93342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کیلومتر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591435" y="8878660"/>
            <a:ext cx="152396" cy="11157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8819929" y="9086850"/>
            <a:ext cx="933426" cy="419100"/>
          </a:xfrm>
          <a:prstGeom prst="roundRect">
            <a:avLst>
              <a:gd name="adj" fmla="val 36363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19929" y="9086850"/>
            <a:ext cx="933426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۵,۰۰۰ بعد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15157" y="9944100"/>
            <a:ext cx="2162120" cy="409574"/>
          </a:xfrm>
          <a:prstGeom prst="roundRect">
            <a:avLst>
              <a:gd name="adj" fmla="val 37209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362340" y="1685925"/>
            <a:ext cx="3457488" cy="9315450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362640" y="1953039"/>
            <a:ext cx="266693" cy="20872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000599" y="1885950"/>
            <a:ext cx="1219169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فرم ثبت هزینه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62360" y="2362199"/>
            <a:ext cx="3057448" cy="8439150"/>
          </a:xfrm>
          <a:prstGeom prst="roundRect">
            <a:avLst>
              <a:gd name="adj" fmla="val 747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714757" y="2514600"/>
            <a:ext cx="2752656" cy="8134349"/>
          </a:xfrm>
          <a:prstGeom prst="roundRect">
            <a:avLst>
              <a:gd name="adj" fmla="val 13840"/>
            </a:avLst>
          </a:prstGeom>
          <a:solidFill>
            <a:srgbClr val="1E3A5F">
              <a:alpha val="6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619609" y="2667000"/>
            <a:ext cx="952476" cy="190499"/>
          </a:xfrm>
          <a:prstGeom prst="roundRect">
            <a:avLst>
              <a:gd name="adj" fmla="val 1000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867153" y="2952750"/>
            <a:ext cx="2447863" cy="7543800"/>
          </a:xfrm>
          <a:prstGeom prst="roundRect">
            <a:avLst>
              <a:gd name="adj" fmla="val 9338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48203" y="3095625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← ثبت هزینه جدید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10024" y="3609975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خودرو 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029274" y="3660321"/>
            <a:ext cx="152396" cy="108857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5010024" y="3867149"/>
            <a:ext cx="2162120" cy="361950"/>
          </a:xfrm>
          <a:prstGeom prst="roundRect">
            <a:avLst>
              <a:gd name="adj" fmla="val 42105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10024" y="4371975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دسته‌بندی 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029274" y="4411435"/>
            <a:ext cx="152396" cy="130628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5010024" y="4629150"/>
            <a:ext cx="2162120" cy="361950"/>
          </a:xfrm>
          <a:prstGeom prst="roundRect">
            <a:avLst>
              <a:gd name="adj" fmla="val 42105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10024" y="5133975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تاریخ 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029274" y="5172075"/>
            <a:ext cx="152396" cy="133349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5010024" y="5391150"/>
            <a:ext cx="2162120" cy="419100"/>
          </a:xfrm>
          <a:prstGeom prst="roundRect">
            <a:avLst>
              <a:gd name="adj" fmla="val 36363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10024" y="5391150"/>
            <a:ext cx="2162120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۱۴۰۳/۱۰/۰۱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10024" y="5953124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مبلغ (تومان) 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029274" y="6000750"/>
            <a:ext cx="152396" cy="114300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5010024" y="6210299"/>
            <a:ext cx="2162120" cy="209550"/>
          </a:xfrm>
          <a:prstGeom prst="roundRect">
            <a:avLst>
              <a:gd name="adj" fmla="val 72727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10024" y="6562725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کیلومتر (اختیاری) 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029274" y="6611710"/>
            <a:ext cx="152396" cy="111578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5010024" y="6819900"/>
            <a:ext cx="2162120" cy="209550"/>
          </a:xfrm>
          <a:prstGeom prst="roundRect">
            <a:avLst>
              <a:gd name="adj" fmla="val 72727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10024" y="7172325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توضیحات (اختیاری) 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029274" y="7211785"/>
            <a:ext cx="152396" cy="130628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5010024" y="7429500"/>
            <a:ext cx="2162120" cy="76199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010024" y="8515350"/>
            <a:ext cx="2162120" cy="409574"/>
          </a:xfrm>
          <a:prstGeom prst="roundRect">
            <a:avLst>
              <a:gd name="adj" fmla="val 37209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66733" y="1685925"/>
            <a:ext cx="3457488" cy="9315450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3657508" y="1945791"/>
            <a:ext cx="266693" cy="22321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304992" y="1885950"/>
            <a:ext cx="1209644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لیست یادآورها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66753" y="2362199"/>
            <a:ext cx="3057448" cy="8439150"/>
          </a:xfrm>
          <a:prstGeom prst="roundRect">
            <a:avLst>
              <a:gd name="adj" fmla="val 747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019149" y="2514600"/>
            <a:ext cx="2752656" cy="8134349"/>
          </a:xfrm>
          <a:prstGeom prst="roundRect">
            <a:avLst>
              <a:gd name="adj" fmla="val 13840"/>
            </a:avLst>
          </a:prstGeom>
          <a:solidFill>
            <a:srgbClr val="1E3A5F">
              <a:alpha val="6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924001" y="2667000"/>
            <a:ext cx="952476" cy="190499"/>
          </a:xfrm>
          <a:prstGeom prst="roundRect">
            <a:avLst>
              <a:gd name="adj" fmla="val 1000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171545" y="2952750"/>
            <a:ext cx="2447863" cy="7543800"/>
          </a:xfrm>
          <a:prstGeom prst="roundRect">
            <a:avLst>
              <a:gd name="adj" fmla="val 9338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33606" y="3095625"/>
            <a:ext cx="74293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← یادآورها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314417" y="3609975"/>
            <a:ext cx="2162120" cy="1133475"/>
          </a:xfrm>
          <a:prstGeom prst="roundRect">
            <a:avLst>
              <a:gd name="adj" fmla="val 16806"/>
            </a:avLst>
          </a:prstGeom>
          <a:solidFill>
            <a:srgbClr val="EF4444">
              <a:alpha val="10000"/>
            </a:srgbClr>
          </a:solidFill>
          <a:ln w="825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66813" y="3762374"/>
            <a:ext cx="185732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گذشته از موعد </a:t>
            </a:r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3152696" y="3804776"/>
            <a:ext cx="171445" cy="143796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466813" y="4076699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سمند - تعویض لاستیک </a:t>
            </a:r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3190795" y="4132135"/>
            <a:ext cx="133346" cy="98679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466813" y="4333875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۵ روز گذشته! </a:t>
            </a:r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3190795" y="4379975"/>
            <a:ext cx="133346" cy="117348"/>
          </a:xfrm>
          <a:prstGeom prst="rect">
            <a:avLst/>
          </a:prstGeom>
        </p:spPr>
      </p:pic>
      <p:sp>
        <p:nvSpPr>
          <p:cNvPr id="86" name="Rounded Rectangle 85"/>
          <p:cNvSpPr/>
          <p:nvPr/>
        </p:nvSpPr>
        <p:spPr>
          <a:xfrm>
            <a:off x="1314417" y="4886325"/>
            <a:ext cx="2162120" cy="1647825"/>
          </a:xfrm>
          <a:prstGeom prst="roundRect">
            <a:avLst>
              <a:gd name="adj" fmla="val 11560"/>
            </a:avLst>
          </a:prstGeom>
          <a:solidFill>
            <a:srgbClr val="F97316">
              <a:alpha val="10000"/>
            </a:srgbClr>
          </a:solidFill>
          <a:ln w="825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466813" y="5038724"/>
            <a:ext cx="185732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نزدیک موعد 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3152696" y="5078361"/>
            <a:ext cx="171445" cy="149327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466813" y="5353049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پژو ۲۰۶ - تعویض روغن </a:t>
            </a:r>
          </a:p>
        </p:txBody>
      </p:sp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3190795" y="5408485"/>
            <a:ext cx="133346" cy="98679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1466813" y="5610224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۳ روز دیگر / ۵۰۰ km </a:t>
            </a:r>
          </a:p>
        </p:txBody>
      </p: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3190795" y="5656326"/>
            <a:ext cx="133346" cy="11734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466813" y="5867399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پژو ۲۰۶ - چک ترمز </a:t>
            </a:r>
          </a:p>
        </p:txBody>
      </p:sp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3190795" y="5922835"/>
            <a:ext cx="133346" cy="98679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466813" y="6124574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۱ هفته دیگر </a:t>
            </a:r>
          </a:p>
        </p:txBody>
      </p:sp>
      <p:pic>
        <p:nvPicPr>
          <p:cNvPr id="96" name="Picture 95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3190795" y="6170676"/>
            <a:ext cx="133346" cy="117348"/>
          </a:xfrm>
          <a:prstGeom prst="rect">
            <a:avLst/>
          </a:prstGeom>
        </p:spPr>
      </p:pic>
      <p:sp>
        <p:nvSpPr>
          <p:cNvPr id="97" name="Rounded Rectangle 96"/>
          <p:cNvSpPr/>
          <p:nvPr/>
        </p:nvSpPr>
        <p:spPr>
          <a:xfrm>
            <a:off x="1314417" y="6677025"/>
            <a:ext cx="2162120" cy="1647825"/>
          </a:xfrm>
          <a:prstGeom prst="roundRect">
            <a:avLst>
              <a:gd name="adj" fmla="val 11560"/>
            </a:avLst>
          </a:prstGeom>
          <a:solidFill>
            <a:srgbClr val="22C55E">
              <a:alpha val="10000"/>
            </a:srgbClr>
          </a:solidFill>
          <a:ln w="825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466813" y="6829425"/>
            <a:ext cx="185732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آینده </a:t>
            </a:r>
          </a:p>
        </p:txBody>
      </p:sp>
      <p:pic>
        <p:nvPicPr>
          <p:cNvPr id="99" name="Picture 98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3152696" y="6869061"/>
            <a:ext cx="171445" cy="149327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1466813" y="7143750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سمند - سرویس کامل </a:t>
            </a:r>
          </a:p>
        </p:txBody>
      </p:sp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3190795" y="7199185"/>
            <a:ext cx="133346" cy="98679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466813" y="7400925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۲ ماه دیگر </a:t>
            </a:r>
          </a:p>
        </p:txBody>
      </p:sp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3190795" y="7447026"/>
            <a:ext cx="133346" cy="11734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466813" y="7658100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پژو ۲۰۶ - بیمه </a:t>
            </a:r>
          </a:p>
        </p:txBody>
      </p:sp>
      <p:pic>
        <p:nvPicPr>
          <p:cNvPr id="105" name="Picture 104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3190795" y="7713535"/>
            <a:ext cx="133346" cy="98679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466813" y="7915275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۳ ماه دیگر 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3190795" y="7961376"/>
            <a:ext cx="133346" cy="117348"/>
          </a:xfrm>
          <a:prstGeom prst="rect">
            <a:avLst/>
          </a:prstGeom>
        </p:spPr>
      </p:pic>
      <p:pic>
        <p:nvPicPr>
          <p:cNvPr id="108" name="Picture 107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3200319" y="9985561"/>
            <a:ext cx="190495" cy="145676"/>
          </a:xfrm>
          <a:prstGeom prst="rect">
            <a:avLst/>
          </a:prstGeom>
        </p:spPr>
      </p:pic>
      <p:pic>
        <p:nvPicPr>
          <p:cNvPr id="109" name="Picture 108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2790755" y="9989763"/>
            <a:ext cx="190495" cy="137272"/>
          </a:xfrm>
          <a:prstGeom prst="rect">
            <a:avLst/>
          </a:prstGeom>
        </p:spPr>
      </p:pic>
      <p:pic>
        <p:nvPicPr>
          <p:cNvPr id="110" name="Picture 109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2324041" y="9977157"/>
            <a:ext cx="190495" cy="162485"/>
          </a:xfrm>
          <a:prstGeom prst="rect">
            <a:avLst/>
          </a:prstGeom>
        </p:spPr>
      </p:pic>
      <p:pic>
        <p:nvPicPr>
          <p:cNvPr id="111" name="Picture 110" descr="image.png"/>
          <p:cNvPicPr>
            <a:picLocks noChangeAspect="1"/>
          </p:cNvPicPr>
          <p:nvPr/>
        </p:nvPicPr>
        <p:blipFill>
          <a:blip r:embed="rId22">
            <a:alphaModFix amt="100000"/>
          </a:blip>
          <a:stretch>
            <a:fillRect/>
          </a:stretch>
        </p:blipFill>
        <p:spPr>
          <a:xfrm>
            <a:off x="1857328" y="9996767"/>
            <a:ext cx="190495" cy="123264"/>
          </a:xfrm>
          <a:prstGeom prst="rect">
            <a:avLst/>
          </a:prstGeom>
        </p:spPr>
      </p:pic>
      <p:pic>
        <p:nvPicPr>
          <p:cNvPr id="112" name="Picture 111" descr="image.png"/>
          <p:cNvPicPr>
            <a:picLocks noChangeAspect="1"/>
          </p:cNvPicPr>
          <p:nvPr/>
        </p:nvPicPr>
        <p:blipFill>
          <a:blip r:embed="rId23">
            <a:alphaModFix amt="100000"/>
          </a:blip>
          <a:stretch>
            <a:fillRect/>
          </a:stretch>
        </p:blipFill>
        <p:spPr>
          <a:xfrm>
            <a:off x="1428714" y="9978558"/>
            <a:ext cx="190495" cy="1596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3A5F"/>
            </a:gs>
            <a:gs pos="100000">
              <a:srgbClr val="134E4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📱 صفحات اصلی (بخش 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06679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گزارش‌ها، تنظیمات، پروفایل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7473" y="1685925"/>
            <a:ext cx="3457488" cy="8477249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058248" y="1953039"/>
            <a:ext cx="266693" cy="2087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81970" y="1885950"/>
            <a:ext cx="73340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گزارش‌ها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67493" y="2362199"/>
            <a:ext cx="3057448" cy="7600950"/>
          </a:xfrm>
          <a:prstGeom prst="roundRect">
            <a:avLst>
              <a:gd name="adj" fmla="val 747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9889" y="2514600"/>
            <a:ext cx="2752656" cy="7296149"/>
          </a:xfrm>
          <a:prstGeom prst="roundRect">
            <a:avLst>
              <a:gd name="adj" fmla="val 13840"/>
            </a:avLst>
          </a:prstGeom>
          <a:solidFill>
            <a:srgbClr val="1E3A5F">
              <a:alpha val="6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15217" y="2667000"/>
            <a:ext cx="952476" cy="190499"/>
          </a:xfrm>
          <a:prstGeom prst="roundRect">
            <a:avLst>
              <a:gd name="adj" fmla="val 1000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5" y="2952750"/>
            <a:ext cx="2447863" cy="6705600"/>
          </a:xfrm>
          <a:prstGeom prst="roundRect">
            <a:avLst>
              <a:gd name="adj" fmla="val 9338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148" y="3095625"/>
            <a:ext cx="8191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← گزارش‌ها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39079" y="3609975"/>
            <a:ext cx="1038199" cy="419100"/>
          </a:xfrm>
          <a:prstGeom prst="roundRect">
            <a:avLst>
              <a:gd name="adj" fmla="val 36363"/>
            </a:avLst>
          </a:prstGeom>
          <a:solidFill>
            <a:srgbClr val="0EA5E9">
              <a:alpha val="10000"/>
            </a:srgbClr>
          </a:solidFill>
          <a:ln w="825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10564" y="3714750"/>
            <a:ext cx="36194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EA5E9"/>
                </a:solidFill>
                <a:latin typeface="Vazirmatn"/>
                <a:rFonts ascii="Vazirmatn" hAnsi="Vazirmatn" eastAsia="Vazirmatn" cs="Vazirmatn"/>
              </a:rPr>
              <a:t>خودرو: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43851" y="3714750"/>
            <a:ext cx="40956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همه 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15157" y="3609975"/>
            <a:ext cx="1038199" cy="419100"/>
          </a:xfrm>
          <a:prstGeom prst="roundRect">
            <a:avLst>
              <a:gd name="adj" fmla="val 36363"/>
            </a:avLst>
          </a:prstGeom>
          <a:solidFill>
            <a:srgbClr val="0EA5E9">
              <a:alpha val="10000"/>
            </a:srgbClr>
          </a:solidFill>
          <a:ln w="825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81890" y="3714750"/>
            <a:ext cx="26669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EA5E9"/>
                </a:solidFill>
                <a:latin typeface="Vazirmatn"/>
                <a:rFonts ascii="Vazirmatn" hAnsi="Vazirmatn" eastAsia="Vazirmatn" cs="Vazirmatn"/>
              </a:rPr>
              <a:t>دوره: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9929" y="3714750"/>
            <a:ext cx="33336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ماه 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15157" y="4171950"/>
            <a:ext cx="2162120" cy="1181099"/>
          </a:xfrm>
          <a:prstGeom prst="roundRect">
            <a:avLst>
              <a:gd name="adj" fmla="val 12903"/>
            </a:avLst>
          </a:prstGeom>
          <a:solidFill>
            <a:srgbClr val="14B8A6">
              <a:alpha val="10000"/>
            </a:srgbClr>
          </a:solidFill>
          <a:ln w="825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7553" y="4324349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837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💰 جمع هزینه‌ها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7553" y="4629150"/>
            <a:ext cx="1857328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۳,۵۰۰,۰۰۰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7553" y="4991100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تومان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5157" y="5495924"/>
            <a:ext cx="2162120" cy="1752599"/>
          </a:xfrm>
          <a:prstGeom prst="roundRect">
            <a:avLst>
              <a:gd name="adj" fmla="val 8695"/>
            </a:avLst>
          </a:prstGeom>
          <a:solidFill>
            <a:srgbClr val="0EA5E9">
              <a:alpha val="10000"/>
            </a:srgbClr>
          </a:solidFill>
          <a:ln w="825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7553" y="5648325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837" b="1">
                <a:solidFill>
                  <a:srgbClr val="0EA5E9"/>
                </a:solidFill>
                <a:latin typeface="Vazirmatn"/>
                <a:rFonts ascii="Vazirmatn" hAnsi="Vazirmatn" eastAsia="Vazirmatn" cs="Vazirmatn"/>
              </a:rPr>
              <a:t>📊 تفکیک هزینه‌ها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3871" y="5953124"/>
            <a:ext cx="58101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سوخت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572485" y="5998028"/>
            <a:ext cx="152396" cy="11974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867553" y="5953124"/>
            <a:ext cx="49528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۲,۰۰۰,۰۰۰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5772" y="6238874"/>
            <a:ext cx="61910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سرویس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572485" y="6270171"/>
            <a:ext cx="152396" cy="14695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67553" y="6238874"/>
            <a:ext cx="45718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۱,۰۰۰,۰۰۰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3871" y="6524624"/>
            <a:ext cx="58101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کارواش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572485" y="6555921"/>
            <a:ext cx="152396" cy="14695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867553" y="6524624"/>
            <a:ext cx="41908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۳۰۰,۰۰۰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6742" y="6810374"/>
            <a:ext cx="43813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سایر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572485" y="6866164"/>
            <a:ext cx="152396" cy="9797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867553" y="6810374"/>
            <a:ext cx="40003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۲۰۰,۰۰۰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15157" y="7391399"/>
            <a:ext cx="216212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10424" y="7543800"/>
            <a:ext cx="171445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837" b="1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📋 لیست سوابق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62920" y="7848599"/>
            <a:ext cx="56196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۱۴۰۳/۱۰/۰۱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10424" y="7848599"/>
            <a:ext cx="68578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سوخت ۵۰۰K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86722" y="8220074"/>
            <a:ext cx="63815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۱۴۰۳/۰۹/۲۸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0424" y="8220074"/>
            <a:ext cx="69530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تعویض روغن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86722" y="8591549"/>
            <a:ext cx="63815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۱۴۰۳/۰۹/۲۵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0424" y="8591549"/>
            <a:ext cx="70483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سوخت ۴۵۰K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15157" y="8677274"/>
            <a:ext cx="2162120" cy="342900"/>
          </a:xfrm>
          <a:prstGeom prst="roundRect">
            <a:avLst>
              <a:gd name="adj" fmla="val 44444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610584" y="9147361"/>
            <a:ext cx="190495" cy="145676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229594" y="9151563"/>
            <a:ext cx="190495" cy="137272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800979" y="9138957"/>
            <a:ext cx="190495" cy="16248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362840" y="9158567"/>
            <a:ext cx="190495" cy="123264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886602" y="9138957"/>
            <a:ext cx="190495" cy="162485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4362340" y="1685925"/>
            <a:ext cx="3457488" cy="8477249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362640" y="1944342"/>
            <a:ext cx="266693" cy="22611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495887" y="1885950"/>
            <a:ext cx="723881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تنظیمات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62360" y="2362199"/>
            <a:ext cx="3057448" cy="7600950"/>
          </a:xfrm>
          <a:prstGeom prst="roundRect">
            <a:avLst>
              <a:gd name="adj" fmla="val 747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714757" y="2514600"/>
            <a:ext cx="2752656" cy="7296149"/>
          </a:xfrm>
          <a:prstGeom prst="roundRect">
            <a:avLst>
              <a:gd name="adj" fmla="val 13840"/>
            </a:avLst>
          </a:prstGeom>
          <a:solidFill>
            <a:srgbClr val="1E3A5F">
              <a:alpha val="6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619609" y="2667000"/>
            <a:ext cx="952476" cy="190499"/>
          </a:xfrm>
          <a:prstGeom prst="roundRect">
            <a:avLst>
              <a:gd name="adj" fmla="val 1000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867153" y="2952750"/>
            <a:ext cx="2447863" cy="6705600"/>
          </a:xfrm>
          <a:prstGeom prst="roundRect">
            <a:avLst>
              <a:gd name="adj" fmla="val 9338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72065" y="3095625"/>
            <a:ext cx="8096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← تنظیمات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10024" y="3609975"/>
            <a:ext cx="2162120" cy="476249"/>
          </a:xfrm>
          <a:prstGeom prst="roundRect">
            <a:avLst>
              <a:gd name="adj" fmla="val 32000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4421" y="3743325"/>
            <a:ext cx="90485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پروفایل کاربر 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857828" y="3784497"/>
            <a:ext cx="171445" cy="127204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162420" y="3765232"/>
            <a:ext cx="228594" cy="16573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010024" y="4181474"/>
            <a:ext cx="2162120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837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تنظیمات یادآوری 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953076" y="4200048"/>
            <a:ext cx="228594" cy="19145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114897" y="4581524"/>
            <a:ext cx="106677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یادآوری داخل اپ 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7029274" y="4620985"/>
            <a:ext cx="152396" cy="130628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5010024" y="4591050"/>
            <a:ext cx="380990" cy="190499"/>
          </a:xfrm>
          <a:prstGeom prst="roundRect">
            <a:avLst>
              <a:gd name="adj" fmla="val 10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76818" y="4867274"/>
            <a:ext cx="89532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یادآوری ایمیل 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7029274" y="4914900"/>
            <a:ext cx="152396" cy="114300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5010024" y="4876800"/>
            <a:ext cx="380990" cy="190499"/>
          </a:xfrm>
          <a:prstGeom prst="roundRect">
            <a:avLst>
              <a:gd name="adj" fmla="val 10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95867" y="5153024"/>
            <a:ext cx="87627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چند روز قبل؟ </a:t>
            </a:r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7029274" y="5192485"/>
            <a:ext cx="152396" cy="13062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5010024" y="5153024"/>
            <a:ext cx="25716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۳ 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10024" y="5676900"/>
            <a:ext cx="2162120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837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تنظیمات عمومی 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6953076" y="5702617"/>
            <a:ext cx="228594" cy="177164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314917" y="6076950"/>
            <a:ext cx="86675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واحد کیلومتر </a:t>
            </a:r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7029274" y="6125935"/>
            <a:ext cx="152396" cy="111578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5010024" y="6086475"/>
            <a:ext cx="380990" cy="190499"/>
          </a:xfrm>
          <a:prstGeom prst="roundRect">
            <a:avLst>
              <a:gd name="adj" fmla="val 10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91115" y="6362700"/>
            <a:ext cx="78103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واحد تومان 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7029274" y="6407603"/>
            <a:ext cx="152396" cy="119742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5010024" y="6372225"/>
            <a:ext cx="380990" cy="190499"/>
          </a:xfrm>
          <a:prstGeom prst="roundRect">
            <a:avLst>
              <a:gd name="adj" fmla="val 10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67293" y="6648450"/>
            <a:ext cx="91437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 تقویم شمسی </a:t>
            </a:r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22">
            <a:alphaModFix amt="100000"/>
          </a:blip>
          <a:stretch>
            <a:fillRect/>
          </a:stretch>
        </p:blipFill>
        <p:spPr>
          <a:xfrm>
            <a:off x="7029274" y="6686550"/>
            <a:ext cx="152396" cy="133349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5010024" y="6657975"/>
            <a:ext cx="380990" cy="190499"/>
          </a:xfrm>
          <a:prstGeom prst="roundRect">
            <a:avLst>
              <a:gd name="adj" fmla="val 10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10024" y="7172325"/>
            <a:ext cx="2162120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837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 خروجی گرفتن </a:t>
            </a:r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23">
            <a:alphaModFix amt="100000"/>
          </a:blip>
          <a:stretch>
            <a:fillRect/>
          </a:stretch>
        </p:blipFill>
        <p:spPr>
          <a:xfrm>
            <a:off x="6953076" y="7200900"/>
            <a:ext cx="228594" cy="171450"/>
          </a:xfrm>
          <a:prstGeom prst="rect">
            <a:avLst/>
          </a:prstGeom>
        </p:spPr>
      </p:pic>
      <p:sp>
        <p:nvSpPr>
          <p:cNvPr id="86" name="Rounded Rectangle 85"/>
          <p:cNvSpPr/>
          <p:nvPr/>
        </p:nvSpPr>
        <p:spPr>
          <a:xfrm>
            <a:off x="5010024" y="7572375"/>
            <a:ext cx="2162120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29114" y="7696199"/>
            <a:ext cx="160015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دانلود همه داده‌ها (CSV) 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24">
            <a:alphaModFix amt="100000"/>
          </a:blip>
          <a:stretch>
            <a:fillRect/>
          </a:stretch>
        </p:blipFill>
        <p:spPr>
          <a:xfrm>
            <a:off x="6857828" y="7734607"/>
            <a:ext cx="171445" cy="132735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5010024" y="8410575"/>
            <a:ext cx="2162120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81550" y="8534399"/>
            <a:ext cx="104772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خروج از حساب </a:t>
            </a:r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5">
            <a:alphaModFix amt="100000"/>
          </a:blip>
          <a:stretch>
            <a:fillRect/>
          </a:stretch>
        </p:blipFill>
        <p:spPr>
          <a:xfrm>
            <a:off x="6857828" y="8570041"/>
            <a:ext cx="171445" cy="138266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914977" y="9147361"/>
            <a:ext cx="190495" cy="145676"/>
          </a:xfrm>
          <a:prstGeom prst="rect">
            <a:avLst/>
          </a:prstGeom>
        </p:spPr>
      </p:pic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33986" y="9151563"/>
            <a:ext cx="190495" cy="137272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105372" y="9138957"/>
            <a:ext cx="190495" cy="162485"/>
          </a:xfrm>
          <a:prstGeom prst="rect">
            <a:avLst/>
          </a:prstGeom>
        </p:spPr>
      </p:pic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26">
            <a:alphaModFix amt="100000"/>
          </a:blip>
          <a:stretch>
            <a:fillRect/>
          </a:stretch>
        </p:blipFill>
        <p:spPr>
          <a:xfrm>
            <a:off x="5667233" y="9158567"/>
            <a:ext cx="190495" cy="123264"/>
          </a:xfrm>
          <a:prstGeom prst="rect">
            <a:avLst/>
          </a:prstGeom>
        </p:spPr>
      </p:pic>
      <p:pic>
        <p:nvPicPr>
          <p:cNvPr id="96" name="Picture 95" descr="image.png"/>
          <p:cNvPicPr>
            <a:picLocks noChangeAspect="1"/>
          </p:cNvPicPr>
          <p:nvPr/>
        </p:nvPicPr>
        <p:blipFill>
          <a:blip r:embed="rId27">
            <a:alphaModFix amt="100000"/>
          </a:blip>
          <a:stretch>
            <a:fillRect/>
          </a:stretch>
        </p:blipFill>
        <p:spPr>
          <a:xfrm>
            <a:off x="5181470" y="9138957"/>
            <a:ext cx="190495" cy="162485"/>
          </a:xfrm>
          <a:prstGeom prst="rect">
            <a:avLst/>
          </a:prstGeom>
        </p:spPr>
      </p:pic>
      <p:sp>
        <p:nvSpPr>
          <p:cNvPr id="97" name="Rounded Rectangle 96"/>
          <p:cNvSpPr/>
          <p:nvPr/>
        </p:nvSpPr>
        <p:spPr>
          <a:xfrm>
            <a:off x="666733" y="1685925"/>
            <a:ext cx="3457488" cy="8477249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28">
            <a:alphaModFix amt="100000"/>
          </a:blip>
          <a:stretch>
            <a:fillRect/>
          </a:stretch>
        </p:blipFill>
        <p:spPr>
          <a:xfrm>
            <a:off x="3657508" y="1961735"/>
            <a:ext cx="266693" cy="191328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2466913" y="1885950"/>
            <a:ext cx="1047723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پروفایل کاربر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66753" y="2362199"/>
            <a:ext cx="3057448" cy="7600950"/>
          </a:xfrm>
          <a:prstGeom prst="roundRect">
            <a:avLst>
              <a:gd name="adj" fmla="val 747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019149" y="2514600"/>
            <a:ext cx="2752656" cy="7296149"/>
          </a:xfrm>
          <a:prstGeom prst="roundRect">
            <a:avLst>
              <a:gd name="adj" fmla="val 13840"/>
            </a:avLst>
          </a:prstGeom>
          <a:solidFill>
            <a:srgbClr val="1E3A5F">
              <a:alpha val="6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924001" y="2667000"/>
            <a:ext cx="952476" cy="190499"/>
          </a:xfrm>
          <a:prstGeom prst="roundRect">
            <a:avLst>
              <a:gd name="adj" fmla="val 1000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171545" y="2952750"/>
            <a:ext cx="2447863" cy="6705600"/>
          </a:xfrm>
          <a:prstGeom prst="roundRect">
            <a:avLst>
              <a:gd name="adj" fmla="val 9338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495487" y="3095625"/>
            <a:ext cx="9905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← پروفایل من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924001" y="3609975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29">
            <a:alphaModFix amt="100000"/>
          </a:blip>
          <a:stretch>
            <a:fillRect/>
          </a:stretch>
        </p:blipFill>
        <p:spPr>
          <a:xfrm>
            <a:off x="2171645" y="3926806"/>
            <a:ext cx="457188" cy="318836"/>
          </a:xfrm>
          <a:prstGeom prst="rect">
            <a:avLst/>
          </a:prstGeom>
        </p:spPr>
      </p:pic>
      <p:sp>
        <p:nvSpPr>
          <p:cNvPr id="107" name="Rounded Rectangle 106"/>
          <p:cNvSpPr/>
          <p:nvPr/>
        </p:nvSpPr>
        <p:spPr>
          <a:xfrm>
            <a:off x="2590735" y="4276725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314417" y="4705350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نام </a:t>
            </a:r>
          </a:p>
        </p:txBody>
      </p:sp>
      <p:pic>
        <p:nvPicPr>
          <p:cNvPr id="109" name="Picture 108" descr="image.png"/>
          <p:cNvPicPr>
            <a:picLocks noChangeAspect="1"/>
          </p:cNvPicPr>
          <p:nvPr/>
        </p:nvPicPr>
        <p:blipFill>
          <a:blip r:embed="rId30">
            <a:alphaModFix amt="100000"/>
          </a:blip>
          <a:stretch>
            <a:fillRect/>
          </a:stretch>
        </p:blipFill>
        <p:spPr>
          <a:xfrm>
            <a:off x="3324141" y="4752974"/>
            <a:ext cx="152396" cy="114300"/>
          </a:xfrm>
          <a:prstGeom prst="rect">
            <a:avLst/>
          </a:prstGeom>
        </p:spPr>
      </p:pic>
      <p:sp>
        <p:nvSpPr>
          <p:cNvPr id="110" name="Rounded Rectangle 109"/>
          <p:cNvSpPr/>
          <p:nvPr/>
        </p:nvSpPr>
        <p:spPr>
          <a:xfrm>
            <a:off x="1314417" y="4962525"/>
            <a:ext cx="2162120" cy="419100"/>
          </a:xfrm>
          <a:prstGeom prst="roundRect">
            <a:avLst>
              <a:gd name="adj" fmla="val 36363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314417" y="4962525"/>
            <a:ext cx="2162120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امیر احمدی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314417" y="5524499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ایمیل </a:t>
            </a:r>
          </a:p>
        </p:txBody>
      </p:sp>
      <p:pic>
        <p:nvPicPr>
          <p:cNvPr id="113" name="Picture 112" descr="image.png"/>
          <p:cNvPicPr>
            <a:picLocks noChangeAspect="1"/>
          </p:cNvPicPr>
          <p:nvPr/>
        </p:nvPicPr>
        <p:blipFill>
          <a:blip r:embed="rId31">
            <a:alphaModFix amt="100000"/>
          </a:blip>
          <a:stretch>
            <a:fillRect/>
          </a:stretch>
        </p:blipFill>
        <p:spPr>
          <a:xfrm>
            <a:off x="3324141" y="5572125"/>
            <a:ext cx="152396" cy="114300"/>
          </a:xfrm>
          <a:prstGeom prst="rect">
            <a:avLst/>
          </a:prstGeom>
        </p:spPr>
      </p:pic>
      <p:sp>
        <p:nvSpPr>
          <p:cNvPr id="114" name="Rounded Rectangle 113"/>
          <p:cNvSpPr/>
          <p:nvPr/>
        </p:nvSpPr>
        <p:spPr>
          <a:xfrm>
            <a:off x="1314417" y="5781674"/>
            <a:ext cx="2162120" cy="419100"/>
          </a:xfrm>
          <a:prstGeom prst="roundRect">
            <a:avLst>
              <a:gd name="adj" fmla="val 36363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314417" y="5781674"/>
            <a:ext cx="2162120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amir@example.com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314417" y="6343650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موبایل </a:t>
            </a:r>
          </a:p>
        </p:txBody>
      </p:sp>
      <p:pic>
        <p:nvPicPr>
          <p:cNvPr id="117" name="Picture 116" descr="image.png"/>
          <p:cNvPicPr>
            <a:picLocks noChangeAspect="1"/>
          </p:cNvPicPr>
          <p:nvPr/>
        </p:nvPicPr>
        <p:blipFill>
          <a:blip r:embed="rId32">
            <a:alphaModFix amt="100000"/>
          </a:blip>
          <a:stretch>
            <a:fillRect/>
          </a:stretch>
        </p:blipFill>
        <p:spPr>
          <a:xfrm>
            <a:off x="3324141" y="6388553"/>
            <a:ext cx="152396" cy="119742"/>
          </a:xfrm>
          <a:prstGeom prst="rect">
            <a:avLst/>
          </a:prstGeom>
        </p:spPr>
      </p:pic>
      <p:sp>
        <p:nvSpPr>
          <p:cNvPr id="118" name="Rounded Rectangle 117"/>
          <p:cNvSpPr/>
          <p:nvPr/>
        </p:nvSpPr>
        <p:spPr>
          <a:xfrm>
            <a:off x="1314417" y="6600825"/>
            <a:ext cx="2162120" cy="419100"/>
          </a:xfrm>
          <a:prstGeom prst="roundRect">
            <a:avLst>
              <a:gd name="adj" fmla="val 36363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314417" y="6600825"/>
            <a:ext cx="2162120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Vazirmatn"/>
                <a:rFonts ascii="Vazirmatn" hAnsi="Vazirmatn" eastAsia="Vazirmatn" cs="Vazirmatn"/>
              </a:rPr>
              <a:t>۰۹۱۲۱۲۳۴۵۶۷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314417" y="7162800"/>
            <a:ext cx="2162120" cy="476249"/>
          </a:xfrm>
          <a:prstGeom prst="roundRect">
            <a:avLst>
              <a:gd name="adj" fmla="val 32000"/>
            </a:avLst>
          </a:prstGeom>
          <a:solidFill>
            <a:srgbClr val="FFFFFF">
              <a:alpha val="80000"/>
            </a:srgbClr>
          </a:solidFill>
          <a:ln w="8255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352616" y="7296149"/>
            <a:ext cx="98105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55555"/>
                </a:solidFill>
                <a:latin typeface="Vazirmatn"/>
                <a:rFonts ascii="Vazirmatn" hAnsi="Vazirmatn" eastAsia="Vazirmatn" cs="Vazirmatn"/>
              </a:rPr>
              <a:t> تغییر رمز عبور </a:t>
            </a:r>
          </a:p>
        </p:txBody>
      </p:sp>
      <p:pic>
        <p:nvPicPr>
          <p:cNvPr id="122" name="Picture 121" descr="image.png"/>
          <p:cNvPicPr>
            <a:picLocks noChangeAspect="1"/>
          </p:cNvPicPr>
          <p:nvPr/>
        </p:nvPicPr>
        <p:blipFill>
          <a:blip r:embed="rId33">
            <a:alphaModFix amt="100000"/>
          </a:blip>
          <a:stretch>
            <a:fillRect/>
          </a:stretch>
        </p:blipFill>
        <p:spPr>
          <a:xfrm>
            <a:off x="3152696" y="7323495"/>
            <a:ext cx="171445" cy="154858"/>
          </a:xfrm>
          <a:prstGeom prst="rect">
            <a:avLst/>
          </a:prstGeom>
        </p:spPr>
      </p:pic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1466813" y="7318057"/>
            <a:ext cx="228594" cy="165734"/>
          </a:xfrm>
          <a:prstGeom prst="rect">
            <a:avLst/>
          </a:prstGeom>
        </p:spPr>
      </p:pic>
      <p:sp>
        <p:nvSpPr>
          <p:cNvPr id="124" name="Rounded Rectangle 123"/>
          <p:cNvSpPr/>
          <p:nvPr/>
        </p:nvSpPr>
        <p:spPr>
          <a:xfrm>
            <a:off x="2362140" y="7639049"/>
            <a:ext cx="1123921" cy="409574"/>
          </a:xfrm>
          <a:prstGeom prst="roundRect">
            <a:avLst>
              <a:gd name="adj" fmla="val 37209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314417" y="8191499"/>
            <a:ext cx="21621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837" b="0">
                <a:solidFill>
                  <a:srgbClr val="777777"/>
                </a:solidFill>
                <a:latin typeface="Vazirmatn"/>
                <a:rFonts ascii="Vazirmatn" hAnsi="Vazirmatn" eastAsia="Vazirmatn" cs="Vazirmatn"/>
              </a:rPr>
              <a:t>نوع حساب: رایگان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304992" y="8543925"/>
            <a:ext cx="1171545" cy="409574"/>
          </a:xfrm>
          <a:prstGeom prst="roundRect">
            <a:avLst>
              <a:gd name="adj" fmla="val 37209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3A5F"/>
            </a:gs>
            <a:gs pos="100000">
              <a:srgbClr val="134E4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🔮 چشم‌انداز آینده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06679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ویژگی‌های نوآورانه در فازهای بعدی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7473" y="1685925"/>
            <a:ext cx="3457488" cy="4791075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972525" y="2113817"/>
            <a:ext cx="304792" cy="2872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29494" y="1933574"/>
            <a:ext cx="1600159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فاز 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29494" y="2343150"/>
            <a:ext cx="16001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PWA و ویژگی‌های پیشرفته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5117" y="2867025"/>
            <a:ext cx="2962200" cy="5524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Progressive Web App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قابلیت نصب روی صفحه اصلی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05872" y="2891605"/>
            <a:ext cx="171445" cy="1603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15117" y="3533774"/>
            <a:ext cx="2962200" cy="5524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کار آفلاین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Offline-first experience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05872" y="3563886"/>
            <a:ext cx="171445" cy="1493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15117" y="4200525"/>
            <a:ext cx="2962200" cy="5524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Push Notifications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همگام‌سازی پس‌زمینه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105872" y="4232018"/>
            <a:ext cx="171445" cy="1465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15117" y="4867274"/>
            <a:ext cx="2962200" cy="5524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گزارش‌گیری پیشرفته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نمودارهای تعاملی و پیش‌بینی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105872" y="4905682"/>
            <a:ext cx="171445" cy="13273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105872" y="5583493"/>
            <a:ext cx="171445" cy="1106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86702" y="5534025"/>
            <a:ext cx="11239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چند کاربر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86702" y="5848350"/>
            <a:ext cx="112392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پشتیبانی از خانواده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2340" y="1685925"/>
            <a:ext cx="3457488" cy="4791075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276918" y="2109421"/>
            <a:ext cx="304792" cy="29600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76818" y="1933574"/>
            <a:ext cx="857228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فاز 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6818" y="2343150"/>
            <a:ext cx="85722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پلتفرم خدماتی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9984" y="2867025"/>
            <a:ext cx="2962200" cy="5524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اتصال به سرویس‌دهندگان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جستجوی تعویض روغنی‌ها و اتوسرویس‌ها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410264" y="2897136"/>
            <a:ext cx="171445" cy="14932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09984" y="3533774"/>
            <a:ext cx="2962200" cy="5524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رزرو نوبت آنلاین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سیستم امتیازدهی و نظرات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410264" y="3563886"/>
            <a:ext cx="171445" cy="14932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09984" y="4200525"/>
            <a:ext cx="2962200" cy="5524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پرداخت درون‌برنامه‌ای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تسویه خودکار با مراکز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410264" y="4241697"/>
            <a:ext cx="171445" cy="1272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09984" y="4867274"/>
            <a:ext cx="2962200" cy="5524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مارکت‌پلیس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لوازم یدکی و محصولات مرتبط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410264" y="4902916"/>
            <a:ext cx="171445" cy="138266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7410264" y="5583493"/>
            <a:ext cx="171445" cy="1106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57728" y="5534025"/>
            <a:ext cx="14572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ویژگی‌های اجتماعی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7728" y="5848350"/>
            <a:ext cx="145728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به اشتراک‌گذاری تجربیات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733" y="1685925"/>
            <a:ext cx="3457488" cy="4791075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3571785" y="2113817"/>
            <a:ext cx="304792" cy="28721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390715" y="1933574"/>
            <a:ext cx="1038199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آینده دور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90715" y="2343150"/>
            <a:ext cx="103819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ویژگی‌های نوآورانه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377" y="2867025"/>
            <a:ext cx="2962200" cy="5524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هوش مصنوعی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پیش‌بینی خرابی قطعات و هزینه‌ها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3705132" y="2902666"/>
            <a:ext cx="171445" cy="13826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14377" y="3533774"/>
            <a:ext cx="2962200" cy="5524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تشخیص خودکار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اسکن OCR فاکتور و استخراج اطلاعات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3705132" y="3563886"/>
            <a:ext cx="171445" cy="14932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14377" y="4200525"/>
            <a:ext cx="2962200" cy="5524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ورود صوتی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سرویس با صدا و دستیار صوتی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3705132" y="4233401"/>
            <a:ext cx="171445" cy="14379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14377" y="4867274"/>
            <a:ext cx="2962200" cy="5524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یادآوری مکان‌محور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یادآوری بر اساس موقعیت جغرافیایی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3705132" y="4897386"/>
            <a:ext cx="171445" cy="149327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3705132" y="5564136"/>
            <a:ext cx="171445" cy="14932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362040" y="5534025"/>
            <a:ext cx="22478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یکپارچه‌سازی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62040" y="5848350"/>
            <a:ext cx="224784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اتصال به سیستم‌های دیگر (بیمه و ...)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3A5F"/>
            </a:gs>
            <a:gs pos="100000">
              <a:srgbClr val="134E4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🎯 خلاصه محصول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06679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خودروبان: دفترچه دیجیتال هوشمند خودرو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554" y="1685925"/>
            <a:ext cx="1695407" cy="1190625"/>
          </a:xfrm>
          <a:prstGeom prst="roundRect">
            <a:avLst>
              <a:gd name="adj" fmla="val 1920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543911" y="1877460"/>
            <a:ext cx="266693" cy="188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81970" y="2200275"/>
            <a:ext cx="9905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مدیریت خودرو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1039" y="2514600"/>
            <a:ext cx="55243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چند خودرو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799" y="1685925"/>
            <a:ext cx="1695407" cy="1190625"/>
          </a:xfrm>
          <a:prstGeom prst="roundRect">
            <a:avLst>
              <a:gd name="adj" fmla="val 1920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715157" y="1844122"/>
            <a:ext cx="266693" cy="2551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0364" y="2200275"/>
            <a:ext cx="8667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سرویس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5592" y="2514600"/>
            <a:ext cx="108582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تاریخ+کیلومتر+هزینه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045" y="1685925"/>
            <a:ext cx="1695407" cy="1190625"/>
          </a:xfrm>
          <a:prstGeom prst="roundRect">
            <a:avLst>
              <a:gd name="adj" fmla="val 1920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876878" y="1860066"/>
            <a:ext cx="266693" cy="223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8263" y="2200275"/>
            <a:ext cx="11239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یادآوری هوشمند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333" y="2514600"/>
            <a:ext cx="68578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زمان+کیلومتر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3766" y="1685925"/>
            <a:ext cx="1695407" cy="1190625"/>
          </a:xfrm>
          <a:prstGeom prst="roundRect">
            <a:avLst>
              <a:gd name="adj" fmla="val 1920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048123" y="1867314"/>
            <a:ext cx="266693" cy="20872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19529" y="2200275"/>
            <a:ext cx="7143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هزینه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935" y="2514600"/>
            <a:ext cx="117154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سوخت/کارواش/تعمیر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95487" y="1685925"/>
            <a:ext cx="1695407" cy="1190625"/>
          </a:xfrm>
          <a:prstGeom prst="roundRect">
            <a:avLst>
              <a:gd name="adj" fmla="val 1920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209844" y="1867314"/>
            <a:ext cx="266693" cy="20872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047923" y="2200275"/>
            <a:ext cx="6000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گزارش‌ها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66953" y="2514600"/>
            <a:ext cx="96200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جمع+لیست+CSV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1685925"/>
            <a:ext cx="1695407" cy="1190625"/>
          </a:xfrm>
          <a:prstGeom prst="roundRect">
            <a:avLst>
              <a:gd name="adj" fmla="val 1920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381090" y="1876010"/>
            <a:ext cx="266693" cy="1913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71545" y="2200275"/>
            <a:ext cx="6762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بکاپ ابری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9624" y="2514600"/>
            <a:ext cx="100009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همیشه در دسترس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0144" y="3114675"/>
            <a:ext cx="5314817" cy="2085975"/>
          </a:xfrm>
          <a:prstGeom prst="roundRect">
            <a:avLst>
              <a:gd name="adj" fmla="val 1461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1096347" y="3378517"/>
            <a:ext cx="228594" cy="1771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943851" y="3314700"/>
            <a:ext cx="105724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صفحات اصلی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67753" y="3762374"/>
            <a:ext cx="457188" cy="323849"/>
          </a:xfrm>
          <a:prstGeom prst="roundRect">
            <a:avLst>
              <a:gd name="adj" fmla="val 117647"/>
            </a:avLst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67753" y="3762374"/>
            <a:ext cx="457188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ورود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72445" y="3762374"/>
            <a:ext cx="600059" cy="323849"/>
          </a:xfrm>
          <a:prstGeom prst="roundRect">
            <a:avLst>
              <a:gd name="adj" fmla="val 117647"/>
            </a:avLst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72445" y="3762374"/>
            <a:ext cx="600059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ثبت‌نام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9039" y="3762374"/>
            <a:ext cx="638159" cy="323849"/>
          </a:xfrm>
          <a:prstGeom prst="roundRect">
            <a:avLst>
              <a:gd name="adj" fmla="val 117647"/>
            </a:avLst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39039" y="3762374"/>
            <a:ext cx="638159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داشبورد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05592" y="3762374"/>
            <a:ext cx="1038199" cy="323849"/>
          </a:xfrm>
          <a:prstGeom prst="roundRect">
            <a:avLst>
              <a:gd name="adj" fmla="val 117647"/>
            </a:avLst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5592" y="3762374"/>
            <a:ext cx="1038199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لیست خودروها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48343" y="3762374"/>
            <a:ext cx="962000" cy="323849"/>
          </a:xfrm>
          <a:prstGeom prst="roundRect">
            <a:avLst>
              <a:gd name="adj" fmla="val 117647"/>
            </a:avLst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48343" y="3762374"/>
            <a:ext cx="962000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جزئیات خودرو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53436" y="4181474"/>
            <a:ext cx="771505" cy="323849"/>
          </a:xfrm>
          <a:prstGeom prst="roundRect">
            <a:avLst>
              <a:gd name="adj" fmla="val 117647"/>
            </a:avLst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53436" y="4181474"/>
            <a:ext cx="771505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فرم خودرو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62860" y="4181474"/>
            <a:ext cx="904852" cy="323849"/>
          </a:xfrm>
          <a:prstGeom prst="roundRect">
            <a:avLst>
              <a:gd name="adj" fmla="val 117647"/>
            </a:avLst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62860" y="4181474"/>
            <a:ext cx="904852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ثبت سرویس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582" y="4181474"/>
            <a:ext cx="781030" cy="323849"/>
          </a:xfrm>
          <a:prstGeom prst="roundRect">
            <a:avLst>
              <a:gd name="adj" fmla="val 117647"/>
            </a:avLst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582" y="4181474"/>
            <a:ext cx="781030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ثبت هزینه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62700" y="4181474"/>
            <a:ext cx="628634" cy="323849"/>
          </a:xfrm>
          <a:prstGeom prst="roundRect">
            <a:avLst>
              <a:gd name="adj" fmla="val 117647"/>
            </a:avLst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62700" y="4181474"/>
            <a:ext cx="628634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یادآورها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72145" y="4181474"/>
            <a:ext cx="685782" cy="323849"/>
          </a:xfrm>
          <a:prstGeom prst="roundRect">
            <a:avLst>
              <a:gd name="adj" fmla="val 117647"/>
            </a:avLst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72145" y="4181474"/>
            <a:ext cx="685782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گزارش‌ها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639159" y="4600575"/>
            <a:ext cx="685782" cy="323849"/>
          </a:xfrm>
          <a:prstGeom prst="roundRect">
            <a:avLst>
              <a:gd name="adj" fmla="val 117647"/>
            </a:avLst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39159" y="4600575"/>
            <a:ext cx="685782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تنظیمات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24801" y="4600575"/>
            <a:ext cx="619109" cy="323849"/>
          </a:xfrm>
          <a:prstGeom prst="roundRect">
            <a:avLst>
              <a:gd name="adj" fmla="val 117647"/>
            </a:avLst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24801" y="4600575"/>
            <a:ext cx="619109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4B8A6"/>
                </a:solidFill>
                <a:latin typeface="Vazirmatn"/>
                <a:rFonts ascii="Vazirmatn" hAnsi="Vazirmatn" eastAsia="Vazirmatn" cs="Vazirmatn"/>
              </a:rPr>
              <a:t>پروفایل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6733" y="3114675"/>
            <a:ext cx="5314817" cy="2085975"/>
          </a:xfrm>
          <a:prstGeom prst="roundRect">
            <a:avLst>
              <a:gd name="adj" fmla="val 1461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543411" y="3404235"/>
            <a:ext cx="228594" cy="12572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790955" y="3314700"/>
            <a:ext cx="66673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تکنولوژی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600559" y="3813072"/>
            <a:ext cx="171445" cy="12720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124121" y="3762374"/>
            <a:ext cx="2409764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Frontend: Vite + Svelte + TypeScript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600559" y="4150441"/>
            <a:ext cx="171445" cy="138266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3190795" y="4095749"/>
            <a:ext cx="234309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Backend: Django REST Framework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600559" y="4479822"/>
            <a:ext cx="171445" cy="12720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000399" y="4429125"/>
            <a:ext cx="153348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Database: PostgreSQL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600559" y="4822722"/>
            <a:ext cx="171445" cy="127204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809904" y="4762500"/>
            <a:ext cx="171445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Hosting: Vercel + Railway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6733" y="5438774"/>
            <a:ext cx="10858228" cy="1409699"/>
          </a:xfrm>
          <a:prstGeom prst="roundRect">
            <a:avLst>
              <a:gd name="adj" fmla="val 2162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11058248" y="5708166"/>
            <a:ext cx="266693" cy="223216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352816" y="6095999"/>
            <a:ext cx="69721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وضعیت: MVP در حال توسعه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52816" y="6410324"/>
            <a:ext cx="697212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زمان تخمینی: ۶ ماه تا اولین نسخه</a:t>
            </a:r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2733606" y="5911663"/>
            <a:ext cx="190495" cy="140073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1695407" y="6229910"/>
            <a:ext cx="190495" cy="1512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